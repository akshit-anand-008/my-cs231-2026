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Image: CS305 (Prof. Biswabandan Panda), Caches-II/III.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Image: CS305 (Prof. Biswabandan Panda), Caches-II/III.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Image: CS305 (Prof. Biswabandan Panda), Caches-II/III.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Image: CS305 (Prof. Biswabandan Panda), Caches-II/III.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Image: CS305 (Prof. Biswabandan Panda), Caches-II/III.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Image: CS305 (Prof. Biswabandan Panda), Caches-II/III.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Image: CS305 (Prof. Biswabandan Panda), Caches-II/III.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Image: CS305 (Prof. Biswabandan Panda), Caches-II/III.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9.xml"/><Relationship Id="rId3" Type="http://schemas.openxmlformats.org/officeDocument/2006/relationships/slide" Target="slide2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8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Welcome to the world of simulators!!!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Lab 9 · ChampSim and caches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657600"/>
            <a:ext cx="1463040" cy="7315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Buffer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Doubts from last week's lab? Ask them now.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Outlab: status and doubts (TA update).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The tasks are not graded. Do them anyway: the lab exam builds on them.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The last hour is the lab exam.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Buffer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Outlab 7 + 8 is coming soon.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Ask and answer more questions today: we have too many chocolates.</a:t>
            </a:r>
          </a:p>
        </p:txBody>
      </p:sp>
      <p:pic>
        <p:nvPicPr>
          <p:cNvPr id="5" name="Picture 4" descr="michael-scott-peac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Plan for this 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Part 1: ChampSim, a cache simulator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Part 2: The cache hierarchy: how a request travels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Part 3: Replacement policies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Part 4: ChampSim under the hood → Tasks 1–3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Lab exam (last hour)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AB40"/>
                </a:solidFill>
                <a:latin typeface="Arial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ChampSim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49039"/>
            <a:ext cx="1463040" cy="7315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What it is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Traces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Its folders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Building and configuring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ChampSim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ChampSim is a simulator of a CPU core and its caches.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Architects use simulators to test an idea, such as a new cache policy, without building a chip.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ChampSim runs on Linux and needs only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g++</a:t>
            </a:r>
            <a:r>
              <a:rPr sz="2400" b="0">
                <a:solidFill>
                  <a:srgbClr val="212121"/>
                </a:solidFill>
                <a:latin typeface="Arial"/>
              </a:rPr>
              <a:t>,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make</a:t>
            </a:r>
            <a:r>
              <a:rPr sz="2400" b="0">
                <a:solidFill>
                  <a:srgbClr val="212121"/>
                </a:solidFill>
                <a:latin typeface="Arial"/>
              </a:rPr>
              <a:t> and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python3</a:t>
            </a:r>
            <a:r>
              <a:rPr sz="24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To install it at home: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git clone --branch 2022-01 https://github.com/ChampSim/ChampSim.git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ChampSim replays traces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18872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i="0">
                <a:solidFill>
                  <a:srgbClr val="ECEFF1"/>
                </a:solidFill>
                <a:latin typeface="JetBrains Mono"/>
              </a:rPr>
              <a:t>$ ls /opt/CS231_Traces</a:t>
            </a:r>
          </a:p>
          <a:p>
            <a:pPr algn="l">
              <a:lnSpc>
                <a:spcPts val="2400"/>
              </a:lnSpc>
            </a:pPr>
            <a:r>
              <a:rPr sz="2000" i="0">
                <a:solidFill>
                  <a:srgbClr val="ECEFF1"/>
                </a:solidFill>
                <a:latin typeface="JetBrains Mono"/>
              </a:rPr>
              <a:t>602.gcc_s-2226B.champsimtrace.xz    605.mcf_s-994B.champsimtrace.xz</a:t>
            </a:r>
          </a:p>
          <a:p>
            <a:pPr algn="l">
              <a:lnSpc>
                <a:spcPts val="2400"/>
              </a:lnSpc>
            </a:pPr>
            <a:r>
              <a:rPr sz="2000" i="0">
                <a:solidFill>
                  <a:srgbClr val="ECEFF1"/>
                </a:solidFill>
                <a:latin typeface="JetBrains Mono"/>
              </a:rPr>
              <a:t>603.bwaves_s-891B.champsimtrace.xz  soplex_66B.trace.xz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ChampSim does not run your program. It replays a </a:t>
            </a:r>
            <a:r>
              <a:rPr sz="2200" b="1">
                <a:solidFill>
                  <a:srgbClr val="212121"/>
                </a:solidFill>
                <a:latin typeface="Arial"/>
              </a:rPr>
              <a:t>trace</a:t>
            </a:r>
            <a:r>
              <a:rPr sz="2200" b="0">
                <a:solidFill>
                  <a:srgbClr val="212121"/>
                </a:solidFill>
                <a:latin typeface="Arial"/>
              </a:rPr>
              <a:t>: the list of instructions a real program executed, with the addresses each one read or wrote.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The trace never changes, so any change in the result comes from the processor you configured.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We use four SPEC CPU programs. The lab machines keep them in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/opt/CS231_Traces</a:t>
            </a:r>
            <a:r>
              <a:rPr sz="22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The lab makefile finds a trace by name: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trace=soplex</a:t>
            </a:r>
            <a:r>
              <a:rPr sz="2200" b="0">
                <a:solidFill>
                  <a:srgbClr val="212121"/>
                </a:solidFill>
                <a:latin typeface="Arial"/>
              </a:rPr>
              <a:t> picks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*soplex*.xz</a:t>
            </a:r>
            <a:r>
              <a:rPr sz="2200" b="0">
                <a:solidFill>
                  <a:srgbClr val="21212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Exploring ChampSim: Building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0" cy="441960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1981199"/>
            <a:ext cx="5340096" cy="25908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981199"/>
            <a:ext cx="54864" cy="25908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2240279"/>
            <a:ext cx="5340096" cy="25908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2240279"/>
            <a:ext cx="54864" cy="25908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5090160"/>
            <a:ext cx="5340096" cy="25908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5090160"/>
            <a:ext cx="54864" cy="25908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5349240"/>
            <a:ext cx="5340096" cy="25908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5349240"/>
            <a:ext cx="54864" cy="25908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417320"/>
            <a:ext cx="5212080" cy="423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Champsim/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champsim_config.json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config.sh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Makefile            (generated)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inc/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└── cache.h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src/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├── cache.cc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└── main.cc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replacement/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├── lru/lru.cc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└── srrip/srrip.cc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prefetcher/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branch/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└── bin/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    └── champsim        (built)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3258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If you built before, run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make clean</a:t>
            </a:r>
            <a:r>
              <a:rPr sz="2200" b="0">
                <a:solidFill>
                  <a:srgbClr val="212121"/>
                </a:solidFill>
                <a:latin typeface="Arial"/>
              </a:rPr>
              <a:t> first.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148840"/>
            <a:ext cx="5394960" cy="2514600"/>
          </a:xfrm>
          <a:prstGeom prst="rect">
            <a:avLst/>
          </a:prstGeom>
          <a:solidFill>
            <a:srgbClr val="FFF3E0"/>
          </a:solidFill>
          <a:ln w="19050">
            <a:solidFill>
              <a:srgbClr val="FFA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28600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1">
                <a:solidFill>
                  <a:srgbClr val="212121"/>
                </a:solidFill>
                <a:latin typeface="Arial"/>
              </a:rPr>
              <a:t>Step 1:</a:t>
            </a:r>
            <a:r>
              <a:rPr sz="2200" b="0">
                <a:solidFill>
                  <a:srgbClr val="212121"/>
                </a:solidFill>
                <a:latin typeface="Arial"/>
              </a:rPr>
              <a:t>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./config.sh champsim_config.json</a:t>
            </a:r>
            <a:r>
              <a:rPr sz="2200" b="0">
                <a:solidFill>
                  <a:srgbClr val="212121"/>
                </a:solidFill>
                <a:latin typeface="Arial"/>
              </a:rPr>
              <a:t> reads the JSON and writes the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Makefile</a:t>
            </a:r>
            <a:r>
              <a:rPr sz="22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1">
                <a:solidFill>
                  <a:srgbClr val="212121"/>
                </a:solidFill>
                <a:latin typeface="Arial"/>
              </a:rPr>
              <a:t>Step 2:</a:t>
            </a:r>
            <a:r>
              <a:rPr sz="2200" b="0">
                <a:solidFill>
                  <a:srgbClr val="212121"/>
                </a:solidFill>
                <a:latin typeface="Arial"/>
              </a:rPr>
              <a:t>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make</a:t>
            </a:r>
            <a:r>
              <a:rPr sz="2200" b="0">
                <a:solidFill>
                  <a:srgbClr val="212121"/>
                </a:solidFill>
                <a:latin typeface="Arial"/>
              </a:rPr>
              <a:t> compiles the simulator into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bin/</a:t>
            </a:r>
            <a:r>
              <a:rPr sz="2200" b="0">
                <a:solidFill>
                  <a:srgbClr val="212121"/>
                </a:solidFill>
                <a:latin typeface="Arial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800600"/>
            <a:ext cx="5394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12121"/>
                </a:solidFill>
                <a:latin typeface="Arial"/>
              </a:rPr>
              <a:t>This is the canonical way to build ChampSim. Run both steps again every time you change the JSON.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Exploring ChampSim: The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0" cy="441960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1722120"/>
            <a:ext cx="5340096" cy="25908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722120"/>
            <a:ext cx="54864" cy="25908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212080" cy="423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Champsim/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champsim_config.json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config.sh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Makefile            (generated)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inc/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└── cache.h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src/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├── cache.cc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└── main.cc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replacement/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├── lru/lru.cc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└── srrip/srrip.cc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prefetcher/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branch/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└── bin/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    └── champsim        (built)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258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champsim_config.json</a:t>
            </a:r>
            <a:r>
              <a:rPr sz="2200" b="0">
                <a:solidFill>
                  <a:srgbClr val="212121"/>
                </a:solidFill>
                <a:latin typeface="Arial"/>
              </a:rPr>
              <a:t> describes the processor you simulate.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You set cache sizes, latencies, queue sizes and policies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Exploring ChampSim: The simulator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0" cy="441960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2499360"/>
            <a:ext cx="5340096" cy="25908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2499360"/>
            <a:ext cx="54864" cy="25908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2758440"/>
            <a:ext cx="5340096" cy="25908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2758440"/>
            <a:ext cx="54864" cy="25908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3017520"/>
            <a:ext cx="5340096" cy="25908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3017520"/>
            <a:ext cx="54864" cy="25908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3276599"/>
            <a:ext cx="5340096" cy="25908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3276599"/>
            <a:ext cx="54864" cy="25908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3535679"/>
            <a:ext cx="5340096" cy="25908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" y="3535679"/>
            <a:ext cx="54864" cy="25908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417320"/>
            <a:ext cx="5212080" cy="423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Champsim/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champsim_config.json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config.sh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Makefile            (generated)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inc/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└── cache.h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src/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├── cache.cc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└── main.cc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replacement/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├── lru/lru.cc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└── srrip/srrip.cc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prefetcher/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branch/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└── bin/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    └── champsim        (built)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3258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src/cache.cc</a:t>
            </a:r>
            <a:r>
              <a:rPr sz="2200" b="0">
                <a:solidFill>
                  <a:srgbClr val="212121"/>
                </a:solidFill>
                <a:latin typeface="Arial"/>
              </a:rPr>
              <a:t> decides what a cache does with each request.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src/main.cc</a:t>
            </a:r>
            <a:r>
              <a:rPr sz="2200" b="0">
                <a:solidFill>
                  <a:srgbClr val="212121"/>
                </a:solidFill>
                <a:latin typeface="Arial"/>
              </a:rPr>
              <a:t> holds the main loop and prints the statistics.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inc/cache.h</a:t>
            </a:r>
            <a:r>
              <a:rPr sz="2200" b="0">
                <a:solidFill>
                  <a:srgbClr val="212121"/>
                </a:solidFill>
                <a:latin typeface="Arial"/>
              </a:rPr>
              <a:t> declares the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CACHE</a:t>
            </a:r>
            <a:r>
              <a:rPr sz="2200" b="0">
                <a:solidFill>
                  <a:srgbClr val="212121"/>
                </a:solidFill>
                <a:latin typeface="Arial"/>
              </a:rPr>
              <a:t> class.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Exploring ChampSim: Replacement policies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0" cy="441960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3794759"/>
            <a:ext cx="5340096" cy="25908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3794759"/>
            <a:ext cx="54864" cy="25908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4053839"/>
            <a:ext cx="5340096" cy="25908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4053839"/>
            <a:ext cx="54864" cy="25908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4312920"/>
            <a:ext cx="5340096" cy="25908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4312920"/>
            <a:ext cx="54864" cy="25908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5212080" cy="423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Champsim/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champsim_config.json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config.sh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Makefile            (generated)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inc/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└── cache.h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src/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├── cache.cc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└── main.cc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replacement/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├── lru/lru.cc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└── srrip/srrip.cc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prefetcher/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branch/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└── bin/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    └── champsim        (built)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replacement/</a:t>
            </a:r>
            <a:r>
              <a:rPr sz="2200" b="0">
                <a:solidFill>
                  <a:srgbClr val="212121"/>
                </a:solidFill>
                <a:latin typeface="Arial"/>
              </a:rPr>
              <a:t> has one folder per replacement policy.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The JSON names the folder that each cache uses.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We explain replacement policies in Part 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Exploring ChampSim: The binary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486400" cy="441960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5090160"/>
            <a:ext cx="5340096" cy="25908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5090160"/>
            <a:ext cx="54864" cy="25908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5349240"/>
            <a:ext cx="5340096" cy="25908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5349240"/>
            <a:ext cx="54864" cy="25908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5212080" cy="423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Champsim/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champsim_config.json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config.sh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Makefile            (generated)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inc/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└── cache.h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src/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├── cache.cc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└── main.cc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replacement/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├── lru/lru.cc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│   └── srrip/srrip.cc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prefetcher/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├── branch/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└── bin/</a:t>
            </a:r>
          </a:p>
          <a:p>
            <a:pPr algn="l">
              <a:lnSpc>
                <a:spcPts val="2039"/>
              </a:lnSpc>
            </a:pPr>
            <a:r>
              <a:rPr sz="1700" i="0">
                <a:solidFill>
                  <a:srgbClr val="ECEFF1"/>
                </a:solidFill>
                <a:latin typeface="JetBrains Mono"/>
              </a:rPr>
              <a:t>    └── champsim        (built)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make</a:t>
            </a:r>
            <a:r>
              <a:rPr sz="2200" b="0">
                <a:solidFill>
                  <a:srgbClr val="212121"/>
                </a:solidFill>
                <a:latin typeface="Arial"/>
              </a:rPr>
              <a:t> writes the simulator to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bin/</a:t>
            </a:r>
            <a:r>
              <a:rPr sz="22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The file name comes from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executable_name</a:t>
            </a:r>
            <a:r>
              <a:rPr sz="2200" b="0">
                <a:solidFill>
                  <a:srgbClr val="212121"/>
                </a:solidFill>
                <a:latin typeface="Arial"/>
              </a:rPr>
              <a:t> in the JSON.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The whole configuration 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274320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2412609"/>
            <a:ext cx="11100816" cy="189913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2412609"/>
            <a:ext cx="54864" cy="189913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2602523"/>
            <a:ext cx="11100816" cy="189913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2602523"/>
            <a:ext cx="54864" cy="189913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2792436"/>
            <a:ext cx="11100816" cy="189913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792436"/>
            <a:ext cx="54864" cy="189913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3172264"/>
            <a:ext cx="11100816" cy="189913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3172264"/>
            <a:ext cx="54864" cy="189913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4173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</a:pPr>
            <a:r>
              <a:rPr sz="1246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1495"/>
              </a:lnSpc>
            </a:pPr>
            <a:r>
              <a:rPr sz="1246" i="0">
                <a:solidFill>
                  <a:srgbClr val="ECEFF1"/>
                </a:solidFill>
                <a:latin typeface="JetBrains Mono"/>
              </a:rPr>
              <a:t>  "executable_name": "bin/champsim",</a:t>
            </a:r>
          </a:p>
          <a:p>
            <a:pPr algn="l">
              <a:lnSpc>
                <a:spcPts val="1495"/>
              </a:lnSpc>
            </a:pPr>
            <a:r>
              <a:rPr sz="1246" i="0">
                <a:solidFill>
                  <a:srgbClr val="ECEFF1"/>
                </a:solidFill>
                <a:latin typeface="JetBrains Mono"/>
              </a:rPr>
              <a:t>  "block_size": 64,</a:t>
            </a:r>
          </a:p>
          <a:p>
            <a:pPr algn="l">
              <a:lnSpc>
                <a:spcPts val="1495"/>
              </a:lnSpc>
            </a:pPr>
            <a:r>
              <a:rPr sz="1246" i="0">
                <a:solidFill>
                  <a:srgbClr val="ECEFF1"/>
                </a:solidFill>
                <a:latin typeface="JetBrains Mono"/>
              </a:rPr>
              <a:t>  "num_cores": 1,</a:t>
            </a:r>
          </a:p>
          <a:p>
            <a:pPr algn="l">
              <a:lnSpc>
                <a:spcPts val="1495"/>
              </a:lnSpc>
            </a:pPr>
            <a:r>
              <a:rPr sz="1246" i="0">
                <a:solidFill>
                  <a:srgbClr val="ECEFF1"/>
                </a:solidFill>
                <a:latin typeface="JetBrains Mono"/>
              </a:rPr>
              <a:t>  "ooo_cpu": [ { ..., "branch_predictor": "bimodal" } ],</a:t>
            </a:r>
          </a:p>
          <a:p>
            <a:pPr algn="l">
              <a:lnSpc>
                <a:spcPts val="1495"/>
              </a:lnSpc>
            </a:pPr>
            <a:r>
              <a:rPr sz="1246" i="0">
                <a:solidFill>
                  <a:srgbClr val="ECEFF1"/>
                </a:solidFill>
                <a:latin typeface="JetBrains Mono"/>
              </a:rPr>
              <a:t>  "L1I":  { "sets": 64,   "ways": 8,  ..., "replacement": "lru" },</a:t>
            </a:r>
          </a:p>
          <a:p>
            <a:pPr algn="l">
              <a:lnSpc>
                <a:spcPts val="1495"/>
              </a:lnSpc>
            </a:pPr>
            <a:r>
              <a:rPr sz="1246" i="0">
                <a:solidFill>
                  <a:srgbClr val="ECEFF1"/>
                </a:solidFill>
                <a:latin typeface="JetBrains Mono"/>
              </a:rPr>
              <a:t>  "L1D":  { "sets": 64,   "ways": 12, ..., "replacement": "lru" },</a:t>
            </a:r>
          </a:p>
          <a:p>
            <a:pPr algn="l">
              <a:lnSpc>
                <a:spcPts val="1495"/>
              </a:lnSpc>
            </a:pPr>
            <a:r>
              <a:rPr sz="1246" i="0">
                <a:solidFill>
                  <a:srgbClr val="ECEFF1"/>
                </a:solidFill>
                <a:latin typeface="JetBrains Mono"/>
              </a:rPr>
              <a:t>  "L2C":  { "sets": 1024, "ways": 8,  ..., "replacement": "lru" },</a:t>
            </a:r>
          </a:p>
          <a:p>
            <a:pPr algn="l">
              <a:lnSpc>
                <a:spcPts val="1495"/>
              </a:lnSpc>
            </a:pPr>
            <a:r>
              <a:rPr sz="1246" i="0">
                <a:solidFill>
                  <a:srgbClr val="ECEFF1"/>
                </a:solidFill>
                <a:latin typeface="JetBrains Mono"/>
              </a:rPr>
              <a:t>  "ITLB": { ... },  "DTLB": { ... },  "STLB": { ... },</a:t>
            </a:r>
          </a:p>
          <a:p>
            <a:pPr algn="l">
              <a:lnSpc>
                <a:spcPts val="1495"/>
              </a:lnSpc>
            </a:pPr>
            <a:r>
              <a:rPr sz="1246" i="0">
                <a:solidFill>
                  <a:srgbClr val="ECEFF1"/>
                </a:solidFill>
                <a:latin typeface="JetBrains Mono"/>
              </a:rPr>
              <a:t>  "LLC":  { "sets": 2048, "ways": 16, ..., "replacement": "lru" },</a:t>
            </a:r>
          </a:p>
          <a:p>
            <a:pPr algn="l">
              <a:lnSpc>
                <a:spcPts val="1495"/>
              </a:lnSpc>
            </a:pPr>
            <a:r>
              <a:rPr sz="1246" i="0">
                <a:solidFill>
                  <a:srgbClr val="ECEFF1"/>
                </a:solidFill>
                <a:latin typeface="JetBrains Mono"/>
              </a:rPr>
              <a:t>  "physical_memory": { ... },</a:t>
            </a:r>
          </a:p>
          <a:p>
            <a:pPr algn="l">
              <a:lnSpc>
                <a:spcPts val="1495"/>
              </a:lnSpc>
            </a:pPr>
            <a:r>
              <a:rPr sz="1246" i="0">
                <a:solidFill>
                  <a:srgbClr val="ECEFF1"/>
                </a:solidFill>
                <a:latin typeface="JetBrains Mono"/>
              </a:rPr>
              <a:t>  "virtual_memory": { ... }</a:t>
            </a:r>
          </a:p>
          <a:p>
            <a:pPr algn="l">
              <a:lnSpc>
                <a:spcPts val="1495"/>
              </a:lnSpc>
            </a:pPr>
            <a:r>
              <a:rPr sz="1246" i="0">
                <a:solidFill>
                  <a:srgbClr val="ECEFF1"/>
                </a:solidFill>
                <a:latin typeface="JetBrai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The file has one block per part of the processor. We only touch the cache blocks.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Each cache block can name its own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replacement</a:t>
            </a:r>
            <a:r>
              <a:rPr sz="2200" b="0">
                <a:solidFill>
                  <a:srgbClr val="212121"/>
                </a:solidFill>
                <a:latin typeface="Arial"/>
              </a:rPr>
              <a:t> policy. A block without that line uses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lru</a:t>
            </a:r>
            <a:r>
              <a:rPr sz="22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The given file writes the line only for the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LLC</a:t>
            </a:r>
            <a:r>
              <a:rPr sz="2200" b="0">
                <a:solidFill>
                  <a:srgbClr val="212121"/>
                </a:solidFill>
                <a:latin typeface="Arial"/>
              </a:rPr>
              <a:t>. For the tasks, the makefile sets it in the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L2C</a:t>
            </a:r>
            <a:r>
              <a:rPr sz="2200" b="0">
                <a:solidFill>
                  <a:srgbClr val="212121"/>
                </a:solidFill>
                <a:latin typeface="Arial"/>
              </a:rPr>
              <a:t> block.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One cache block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120640" cy="3566159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1737360"/>
            <a:ext cx="4974336" cy="27432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737360"/>
            <a:ext cx="54864" cy="27432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2011679"/>
            <a:ext cx="4974336" cy="27432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2011679"/>
            <a:ext cx="54864" cy="27432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3108959"/>
            <a:ext cx="4974336" cy="27432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3108959"/>
            <a:ext cx="54864" cy="27432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4206240"/>
            <a:ext cx="4974336" cy="27432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4206240"/>
            <a:ext cx="54864" cy="27432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417320"/>
            <a:ext cx="484632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</a:pPr>
            <a:r>
              <a:rPr sz="1800" i="0">
                <a:solidFill>
                  <a:srgbClr val="ECEFF1"/>
                </a:solidFill>
                <a:latin typeface="JetBrains Mono"/>
              </a:rPr>
              <a:t>"LLC": {</a:t>
            </a:r>
          </a:p>
          <a:p>
            <a:pPr algn="l">
              <a:lnSpc>
                <a:spcPts val="2160"/>
              </a:lnSpc>
            </a:pPr>
            <a:r>
              <a:rPr sz="1800" i="0">
                <a:solidFill>
                  <a:srgbClr val="ECEFF1"/>
                </a:solidFill>
                <a:latin typeface="JetBrains Mono"/>
              </a:rPr>
              <a:t>    "sets": 2048,</a:t>
            </a:r>
          </a:p>
          <a:p>
            <a:pPr algn="l">
              <a:lnSpc>
                <a:spcPts val="2160"/>
              </a:lnSpc>
            </a:pPr>
            <a:r>
              <a:rPr sz="1800" i="0">
                <a:solidFill>
                  <a:srgbClr val="ECEFF1"/>
                </a:solidFill>
                <a:latin typeface="JetBrains Mono"/>
              </a:rPr>
              <a:t>    "ways": 16,</a:t>
            </a:r>
          </a:p>
          <a:p>
            <a:pPr algn="l">
              <a:lnSpc>
                <a:spcPts val="2160"/>
              </a:lnSpc>
            </a:pPr>
            <a:r>
              <a:rPr sz="1800" i="0">
                <a:solidFill>
                  <a:srgbClr val="ECEFF1"/>
                </a:solidFill>
                <a:latin typeface="JetBrains Mono"/>
              </a:rPr>
              <a:t>    "rq_size": 32,</a:t>
            </a:r>
          </a:p>
          <a:p>
            <a:pPr algn="l">
              <a:lnSpc>
                <a:spcPts val="2160"/>
              </a:lnSpc>
            </a:pPr>
            <a:r>
              <a:rPr sz="1800" i="0">
                <a:solidFill>
                  <a:srgbClr val="ECEFF1"/>
                </a:solidFill>
                <a:latin typeface="JetBrains Mono"/>
              </a:rPr>
              <a:t>    "wq_size": 32,</a:t>
            </a:r>
          </a:p>
          <a:p>
            <a:pPr algn="l">
              <a:lnSpc>
                <a:spcPts val="2160"/>
              </a:lnSpc>
            </a:pPr>
            <a:r>
              <a:rPr sz="1800" i="0">
                <a:solidFill>
                  <a:srgbClr val="ECEFF1"/>
                </a:solidFill>
                <a:latin typeface="JetBrains Mono"/>
              </a:rPr>
              <a:t>    "mshr_size": 64,</a:t>
            </a:r>
          </a:p>
          <a:p>
            <a:pPr algn="l">
              <a:lnSpc>
                <a:spcPts val="2160"/>
              </a:lnSpc>
            </a:pPr>
            <a:r>
              <a:rPr sz="1800" i="0">
                <a:solidFill>
                  <a:srgbClr val="ECEFF1"/>
                </a:solidFill>
                <a:latin typeface="JetBrains Mono"/>
              </a:rPr>
              <a:t>    "latency": 20,</a:t>
            </a:r>
          </a:p>
          <a:p>
            <a:pPr algn="l">
              <a:lnSpc>
                <a:spcPts val="2160"/>
              </a:lnSpc>
            </a:pPr>
            <a:r>
              <a:rPr sz="1800" i="0">
                <a:solidFill>
                  <a:srgbClr val="ECEFF1"/>
                </a:solidFill>
                <a:latin typeface="JetBrains Mono"/>
              </a:rPr>
              <a:t>    "max_read": 1,</a:t>
            </a:r>
          </a:p>
          <a:p>
            <a:pPr algn="l">
              <a:lnSpc>
                <a:spcPts val="2160"/>
              </a:lnSpc>
            </a:pPr>
            <a:r>
              <a:rPr sz="1800" i="0">
                <a:solidFill>
                  <a:srgbClr val="ECEFF1"/>
                </a:solidFill>
                <a:latin typeface="JetBrains Mono"/>
              </a:rPr>
              <a:t>    "max_write": 1,</a:t>
            </a:r>
          </a:p>
          <a:p>
            <a:pPr algn="l">
              <a:lnSpc>
                <a:spcPts val="2160"/>
              </a:lnSpc>
            </a:pPr>
            <a:r>
              <a:rPr sz="1800" i="0">
                <a:solidFill>
                  <a:srgbClr val="ECEFF1"/>
                </a:solidFill>
                <a:latin typeface="JetBrains Mono"/>
              </a:rPr>
              <a:t>    "prefetcher": "no",</a:t>
            </a:r>
          </a:p>
          <a:p>
            <a:pPr algn="l">
              <a:lnSpc>
                <a:spcPts val="2160"/>
              </a:lnSpc>
            </a:pPr>
            <a:r>
              <a:rPr sz="1800" i="0">
                <a:solidFill>
                  <a:srgbClr val="ECEFF1"/>
                </a:solidFill>
                <a:latin typeface="JetBrains Mono"/>
              </a:rPr>
              <a:t>    "replacement": "lru"</a:t>
            </a:r>
          </a:p>
          <a:p>
            <a:pPr algn="l">
              <a:lnSpc>
                <a:spcPts val="2160"/>
              </a:lnSpc>
            </a:pPr>
            <a:r>
              <a:rPr sz="1800" i="0">
                <a:solidFill>
                  <a:srgbClr val="ECEFF1"/>
                </a:solidFill>
                <a:latin typeface="JetBrains Mon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59" y="132588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sets</a:t>
            </a:r>
            <a:r>
              <a:rPr sz="2000" b="0">
                <a:solidFill>
                  <a:srgbClr val="212121"/>
                </a:solidFill>
                <a:latin typeface="Arial"/>
              </a:rPr>
              <a:t> and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ways</a:t>
            </a:r>
            <a:r>
              <a:rPr sz="2000" b="0">
                <a:solidFill>
                  <a:srgbClr val="212121"/>
                </a:solidFill>
                <a:latin typeface="Arial"/>
              </a:rPr>
              <a:t> give the shape of the cache.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latency</a:t>
            </a:r>
            <a:r>
              <a:rPr sz="2000" b="0">
                <a:solidFill>
                  <a:srgbClr val="212121"/>
                </a:solidFill>
                <a:latin typeface="Arial"/>
              </a:rPr>
              <a:t> is the number of cycles a hit takes.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rq_size</a:t>
            </a:r>
            <a:r>
              <a:rPr sz="2000" b="0">
                <a:solidFill>
                  <a:srgbClr val="212121"/>
                </a:solidFill>
                <a:latin typeface="Arial"/>
              </a:rPr>
              <a:t>,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wq_size</a:t>
            </a:r>
            <a:r>
              <a:rPr sz="2000" b="0">
                <a:solidFill>
                  <a:srgbClr val="212121"/>
                </a:solidFill>
                <a:latin typeface="Arial"/>
              </a:rPr>
              <a:t> and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mshr_size</a:t>
            </a:r>
            <a:r>
              <a:rPr sz="2000" b="0">
                <a:solidFill>
                  <a:srgbClr val="212121"/>
                </a:solidFill>
                <a:latin typeface="Arial"/>
              </a:rPr>
              <a:t> are buffer sizes. Part 2 explains them.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max_read</a:t>
            </a:r>
            <a:r>
              <a:rPr sz="2000" b="0">
                <a:solidFill>
                  <a:srgbClr val="212121"/>
                </a:solidFill>
                <a:latin typeface="Arial"/>
              </a:rPr>
              <a:t> and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max_write</a:t>
            </a:r>
            <a:r>
              <a:rPr sz="2000" b="0">
                <a:solidFill>
                  <a:srgbClr val="212121"/>
                </a:solidFill>
                <a:latin typeface="Arial"/>
              </a:rPr>
              <a:t> limit the requests handled per cycle.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replacement</a:t>
            </a:r>
            <a:r>
              <a:rPr sz="2000" b="0">
                <a:solidFill>
                  <a:srgbClr val="212121"/>
                </a:solidFill>
                <a:latin typeface="Arial"/>
              </a:rPr>
              <a:t> names a folder under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replacement/</a:t>
            </a:r>
            <a:r>
              <a:rPr sz="2000" b="0">
                <a:solidFill>
                  <a:srgbClr val="21212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Running ChampSim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09728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</a:pPr>
            <a:r>
              <a:rPr sz="1800" i="0">
                <a:solidFill>
                  <a:srgbClr val="ECEFF1"/>
                </a:solidFill>
                <a:latin typeface="JetBrains Mono"/>
              </a:rPr>
              <a:t>$ ./bin/champsim --warmup_instructions 1000000 \</a:t>
            </a:r>
          </a:p>
          <a:p>
            <a:pPr algn="l">
              <a:lnSpc>
                <a:spcPts val="2160"/>
              </a:lnSpc>
            </a:pPr>
            <a:r>
              <a:rPr sz="1800" i="0">
                <a:solidFill>
                  <a:srgbClr val="ECEFF1"/>
                </a:solidFill>
                <a:latin typeface="JetBrains Mono"/>
              </a:rPr>
              <a:t>                 --simulation_instructions 10000000 \</a:t>
            </a:r>
          </a:p>
          <a:p>
            <a:pPr algn="l">
              <a:lnSpc>
                <a:spcPts val="2160"/>
              </a:lnSpc>
            </a:pPr>
            <a:r>
              <a:rPr sz="1800" i="0">
                <a:solidFill>
                  <a:srgbClr val="ECEFF1"/>
                </a:solidFill>
                <a:latin typeface="JetBrains Mono"/>
              </a:rPr>
              <a:t>                 /opt/CS231_Traces/soplex_66B.trace.xz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47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The </a:t>
            </a:r>
            <a:r>
              <a:rPr sz="2200" b="1">
                <a:solidFill>
                  <a:srgbClr val="212121"/>
                </a:solidFill>
                <a:latin typeface="Arial"/>
              </a:rPr>
              <a:t>warm-up</a:t>
            </a:r>
            <a:r>
              <a:rPr sz="2200" b="0">
                <a:solidFill>
                  <a:srgbClr val="212121"/>
                </a:solidFill>
                <a:latin typeface="Arial"/>
              </a:rPr>
              <a:t> instructions fill the caches. ChampSim throws away their statistics.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The </a:t>
            </a:r>
            <a:r>
              <a:rPr sz="2200" b="1">
                <a:solidFill>
                  <a:srgbClr val="212121"/>
                </a:solidFill>
                <a:latin typeface="Arial"/>
              </a:rPr>
              <a:t>simulation</a:t>
            </a:r>
            <a:r>
              <a:rPr sz="2200" b="0">
                <a:solidFill>
                  <a:srgbClr val="212121"/>
                </a:solidFill>
                <a:latin typeface="Arial"/>
              </a:rPr>
              <a:t> instructions are the ones that count. This part is the region of interest (ROI).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At the end, the simulation prints its </a:t>
            </a:r>
            <a:r>
              <a:rPr sz="2200" b="1">
                <a:solidFill>
                  <a:srgbClr val="212121"/>
                </a:solidFill>
                <a:latin typeface="Arial"/>
              </a:rPr>
              <a:t>statistics</a:t>
            </a:r>
            <a:r>
              <a:rPr sz="2200" b="0">
                <a:solidFill>
                  <a:srgbClr val="212121"/>
                </a:solidFill>
                <a:latin typeface="Arial"/>
              </a:rPr>
              <a:t> for the ROI: the IPC, and the hits and misses of every cache.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Use </a:t>
            </a:r>
            <a:r>
              <a:rPr sz="2200" b="1">
                <a:solidFill>
                  <a:srgbClr val="212121"/>
                </a:solidFill>
                <a:latin typeface="Arial"/>
              </a:rPr>
              <a:t>1M + 10M</a:t>
            </a:r>
            <a:r>
              <a:rPr sz="2200" b="0">
                <a:solidFill>
                  <a:srgbClr val="212121"/>
                </a:solidFill>
                <a:latin typeface="Arial"/>
              </a:rPr>
              <a:t> to check that something works, and </a:t>
            </a:r>
            <a:r>
              <a:rPr sz="2200" b="1">
                <a:solidFill>
                  <a:srgbClr val="212121"/>
                </a:solidFill>
                <a:latin typeface="Arial"/>
              </a:rPr>
              <a:t>20M + 25M</a:t>
            </a:r>
            <a:r>
              <a:rPr sz="2200" b="0">
                <a:solidFill>
                  <a:srgbClr val="212121"/>
                </a:solidFill>
                <a:latin typeface="Arial"/>
              </a:rPr>
              <a:t> for real numbers.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A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212121"/>
                </a:solidFill>
                <a:latin typeface="Arial"/>
              </a:rPr>
              <a:t>We cover the general concepts first,</a:t>
            </a:r>
          </a:p>
          <a:p>
            <a:pPr algn="ctr"/>
            <a:r>
              <a:rPr sz="4400" b="1">
                <a:solidFill>
                  <a:srgbClr val="212121"/>
                </a:solidFill>
                <a:latin typeface="Arial"/>
              </a:rPr>
              <a:t>then map them to ChampSim.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AB40"/>
                </a:solidFill>
                <a:latin typeface="Arial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The cache hierarchy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49039"/>
            <a:ext cx="1463040" cy="7315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Levels and addresses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Tracing a load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Packets and request types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Tracing a store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Queues and MSHRs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Metrics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The cache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Each level is bigger and slower than the one above it.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The L1 is split into the L1I for instructions and the L1D for data.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When a level misses, it sends a request to the level below.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The numbers in the boxes are hit latencies in cycles, taken from the JSON.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371600"/>
            <a:ext cx="2194560" cy="54864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194560"/>
            <a:ext cx="2103120" cy="640080"/>
          </a:xfrm>
          <a:prstGeom prst="round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12121"/>
                </a:solidFill>
                <a:latin typeface="Arial"/>
              </a:rPr>
              <a:t>L1I · 32 KB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2194560"/>
            <a:ext cx="2103120" cy="640080"/>
          </a:xfrm>
          <a:prstGeom prst="round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12121"/>
                </a:solidFill>
                <a:latin typeface="Arial"/>
              </a:rPr>
              <a:t>L1D · 48 KB ·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108960"/>
            <a:ext cx="4389120" cy="640080"/>
          </a:xfrm>
          <a:prstGeom prst="round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12121"/>
                </a:solidFill>
                <a:latin typeface="Arial"/>
              </a:rPr>
              <a:t>L2C · 512 KB ·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023360"/>
            <a:ext cx="4389120" cy="640080"/>
          </a:xfrm>
          <a:prstGeom prst="round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12121"/>
                </a:solidFill>
                <a:latin typeface="Arial"/>
              </a:rPr>
              <a:t>LLC · 2 MB ·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937760"/>
            <a:ext cx="4389120" cy="64008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212121"/>
                </a:solidFill>
                <a:latin typeface="Arial"/>
              </a:rPr>
              <a:t>DRAM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Recap: sets and 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31-p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133" y="1325880"/>
            <a:ext cx="910542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Recap: a 4-way set-associative cache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31-p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133" y="1325880"/>
            <a:ext cx="910542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Recap: tag, index, offset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31-p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133" y="1325880"/>
            <a:ext cx="910542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Recap: the bits of an address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Lines are </a:t>
            </a:r>
            <a:r>
              <a:rPr sz="2400" b="1">
                <a:solidFill>
                  <a:srgbClr val="212121"/>
                </a:solidFill>
                <a:latin typeface="Arial"/>
              </a:rPr>
              <a:t>64</a:t>
            </a:r>
            <a:r>
              <a:rPr sz="2400" b="0">
                <a:solidFill>
                  <a:srgbClr val="212121"/>
                </a:solidFill>
                <a:latin typeface="Arial"/>
              </a:rPr>
              <a:t> bytes, so the low </a:t>
            </a:r>
            <a:r>
              <a:rPr sz="2400" b="1">
                <a:solidFill>
                  <a:srgbClr val="212121"/>
                </a:solidFill>
                <a:latin typeface="Arial"/>
              </a:rPr>
              <a:t>6</a:t>
            </a:r>
            <a:r>
              <a:rPr sz="2400" b="0">
                <a:solidFill>
                  <a:srgbClr val="212121"/>
                </a:solidFill>
                <a:latin typeface="Arial"/>
              </a:rPr>
              <a:t> bits are the </a:t>
            </a:r>
            <a:r>
              <a:rPr sz="2400" b="1">
                <a:solidFill>
                  <a:srgbClr val="212121"/>
                </a:solidFill>
                <a:latin typeface="Arial"/>
              </a:rPr>
              <a:t>offset</a:t>
            </a:r>
            <a:r>
              <a:rPr sz="2400" b="0">
                <a:solidFill>
                  <a:srgbClr val="212121"/>
                </a:solidFill>
                <a:latin typeface="Arial"/>
              </a:rPr>
              <a:t> inside the line.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The next bits are the </a:t>
            </a:r>
            <a:r>
              <a:rPr sz="2400" b="1">
                <a:solidFill>
                  <a:srgbClr val="212121"/>
                </a:solidFill>
                <a:latin typeface="Arial"/>
              </a:rPr>
              <a:t>index</a:t>
            </a:r>
            <a:r>
              <a:rPr sz="2400" b="0">
                <a:solidFill>
                  <a:srgbClr val="212121"/>
                </a:solidFill>
                <a:latin typeface="Arial"/>
              </a:rPr>
              <a:t>. They pick the set: </a:t>
            </a:r>
            <a:r>
              <a:rPr sz="2400" b="1">
                <a:solidFill>
                  <a:srgbClr val="212121"/>
                </a:solidFill>
                <a:latin typeface="Arial"/>
              </a:rPr>
              <a:t>log₂(sets)</a:t>
            </a:r>
            <a:r>
              <a:rPr sz="2400" b="0">
                <a:solidFill>
                  <a:srgbClr val="212121"/>
                </a:solidFill>
                <a:latin typeface="Arial"/>
              </a:rPr>
              <a:t> bits.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The rest of the address is the </a:t>
            </a:r>
            <a:r>
              <a:rPr sz="2400" b="1">
                <a:solidFill>
                  <a:srgbClr val="212121"/>
                </a:solidFill>
                <a:latin typeface="Arial"/>
              </a:rPr>
              <a:t>tag</a:t>
            </a:r>
            <a:r>
              <a:rPr sz="2400" b="0">
                <a:solidFill>
                  <a:srgbClr val="212121"/>
                </a:solidFill>
                <a:latin typeface="Arial"/>
              </a:rPr>
              <a:t>. It tells apart the lines that share a set.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In our configuration:</a:t>
            </a:r>
          </a:p>
          <a:p>
            <a:pPr lvl="1">
              <a:spcAft>
                <a:spcPts val="800"/>
              </a:spcAft>
            </a:pPr>
            <a:r>
              <a:rPr sz="2100" b="0">
                <a:solidFill>
                  <a:srgbClr val="595959"/>
                </a:solidFill>
                <a:latin typeface="Arial"/>
              </a:rPr>
              <a:t>– L1D: 48 KB, 12 ways → </a:t>
            </a:r>
            <a:r>
              <a:rPr sz="2100" b="1">
                <a:solidFill>
                  <a:srgbClr val="595959"/>
                </a:solidFill>
                <a:latin typeface="Arial"/>
              </a:rPr>
              <a:t>64</a:t>
            </a:r>
            <a:r>
              <a:rPr sz="2100" b="0">
                <a:solidFill>
                  <a:srgbClr val="595959"/>
                </a:solidFill>
                <a:latin typeface="Arial"/>
              </a:rPr>
              <a:t> sets → </a:t>
            </a:r>
            <a:r>
              <a:rPr sz="2100" b="1">
                <a:solidFill>
                  <a:srgbClr val="595959"/>
                </a:solidFill>
                <a:latin typeface="Arial"/>
              </a:rPr>
              <a:t>6</a:t>
            </a:r>
            <a:r>
              <a:rPr sz="2100" b="0">
                <a:solidFill>
                  <a:srgbClr val="595959"/>
                </a:solidFill>
                <a:latin typeface="Arial"/>
              </a:rPr>
              <a:t> index bits</a:t>
            </a:r>
          </a:p>
          <a:p>
            <a:pPr lvl="1">
              <a:spcAft>
                <a:spcPts val="800"/>
              </a:spcAft>
            </a:pPr>
            <a:r>
              <a:rPr sz="2100" b="0">
                <a:solidFill>
                  <a:srgbClr val="595959"/>
                </a:solidFill>
                <a:latin typeface="Arial"/>
              </a:rPr>
              <a:t>– LLC: 2 MB, 16 ways → </a:t>
            </a:r>
            <a:r>
              <a:rPr sz="2100" b="1">
                <a:solidFill>
                  <a:srgbClr val="595959"/>
                </a:solidFill>
                <a:latin typeface="Arial"/>
              </a:rPr>
              <a:t>2048</a:t>
            </a:r>
            <a:r>
              <a:rPr sz="2100" b="0">
                <a:solidFill>
                  <a:srgbClr val="595959"/>
                </a:solidFill>
                <a:latin typeface="Arial"/>
              </a:rPr>
              <a:t> sets → </a:t>
            </a:r>
            <a:r>
              <a:rPr sz="2100" b="1">
                <a:solidFill>
                  <a:srgbClr val="595959"/>
                </a:solidFill>
                <a:latin typeface="Arial"/>
              </a:rPr>
              <a:t>11</a:t>
            </a:r>
            <a:r>
              <a:rPr sz="2100" b="0">
                <a:solidFill>
                  <a:srgbClr val="595959"/>
                </a:solidFill>
                <a:latin typeface="Arial"/>
              </a:rPr>
              <a:t> index bits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Practice: find the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The core loads from address </a:t>
            </a:r>
            <a:r>
              <a:rPr sz="2400" b="1">
                <a:solidFill>
                  <a:srgbClr val="212121"/>
                </a:solidFill>
                <a:latin typeface="Arial"/>
              </a:rPr>
              <a:t>0x1234ABC0</a:t>
            </a:r>
            <a:r>
              <a:rPr sz="24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Which byte of the line, which set and which tag does it use in the L1D?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Which set does it use in the LLC?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537708"/>
            <a:ext cx="11247120" cy="771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8E3E"/>
                </a:solidFill>
                <a:latin typeface="Arial"/>
              </a:rPr>
              <a:t>H: Write the address in binary. Cut off 6 bits for the offset, then the index bits.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Practice: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0x1234ABC0 = …0100 1010 1011 1100 0000 in binary.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Offset = low 6 bits = </a:t>
            </a:r>
            <a:r>
              <a:rPr sz="2400" b="1">
                <a:solidFill>
                  <a:srgbClr val="212121"/>
                </a:solidFill>
                <a:latin typeface="Arial"/>
              </a:rPr>
              <a:t>0</a:t>
            </a:r>
            <a:r>
              <a:rPr sz="24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L1D index = next 6 bits = 101111 = </a:t>
            </a:r>
            <a:r>
              <a:rPr sz="2400" b="1">
                <a:solidFill>
                  <a:srgbClr val="212121"/>
                </a:solidFill>
                <a:latin typeface="Arial"/>
              </a:rPr>
              <a:t>47</a:t>
            </a:r>
            <a:r>
              <a:rPr sz="2400" b="0">
                <a:solidFill>
                  <a:srgbClr val="212121"/>
                </a:solidFill>
                <a:latin typeface="Arial"/>
              </a:rPr>
              <a:t>. Tag = address &gt;&gt; 12 = </a:t>
            </a:r>
            <a:r>
              <a:rPr sz="2400" b="1">
                <a:solidFill>
                  <a:srgbClr val="212121"/>
                </a:solidFill>
                <a:latin typeface="Arial"/>
              </a:rPr>
              <a:t>0x1234A</a:t>
            </a:r>
            <a:r>
              <a:rPr sz="24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LLC index = next 11 bits = 01010101111 = </a:t>
            </a:r>
            <a:r>
              <a:rPr sz="2400" b="1">
                <a:solidFill>
                  <a:srgbClr val="212121"/>
                </a:solidFill>
                <a:latin typeface="Arial"/>
              </a:rPr>
              <a:t>687</a:t>
            </a:r>
            <a:r>
              <a:rPr sz="2400" b="0">
                <a:solidFill>
                  <a:srgbClr val="212121"/>
                </a:solidFill>
                <a:latin typeface="Arial"/>
              </a:rPr>
              <a:t>. Tag = address &gt;&gt; 17 = </a:t>
            </a:r>
            <a:r>
              <a:rPr sz="2400" b="1">
                <a:solidFill>
                  <a:srgbClr val="212121"/>
                </a:solidFill>
                <a:latin typeface="Arial"/>
              </a:rPr>
              <a:t>0x91A</a:t>
            </a:r>
            <a:r>
              <a:rPr sz="2400" b="0">
                <a:solidFill>
                  <a:srgbClr val="21212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Tracing a demand load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0" y="5305806"/>
            <a:ext cx="4937760" cy="644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B1FA2"/>
                </a:solidFill>
                <a:latin typeface="Arial"/>
              </a:rPr>
              <a:t>Q: What does it mean for a line to "reside" in the LLC?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5950458"/>
            <a:ext cx="4937760" cy="3589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B1FA2"/>
                </a:solidFill>
                <a:latin typeface="Arial"/>
              </a:rPr>
              <a:t>Q: What could each buffer be for?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74519" y="4617720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399032"/>
            <a:ext cx="1645920" cy="402336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12121"/>
                </a:solidFill>
                <a:latin typeface="Arial"/>
              </a:rPr>
              <a:t>R1 · 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13716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We follow one load, </a:t>
            </a:r>
            <a:r>
              <a:rPr sz="2000" b="1">
                <a:solidFill>
                  <a:srgbClr val="212121"/>
                </a:solidFill>
                <a:latin typeface="Arial"/>
              </a:rPr>
              <a:t>R1</a:t>
            </a:r>
            <a:r>
              <a:rPr sz="2000" b="0">
                <a:solidFill>
                  <a:srgbClr val="212121"/>
                </a:solidFill>
                <a:latin typeface="Arial"/>
              </a:rPr>
              <a:t>, for line A.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Line A is in the LLC, but not in the L1D or the L2C.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RQ and MSHR are two kinds of buffer. We explain them later.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numbers on the left are hit latencies in cycles.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R1 enters the L1D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2121"/>
                </a:solidFill>
                <a:latin typeface="Arial"/>
              </a:rPr>
              <a:t>RQ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4617720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0" y="2478024"/>
            <a:ext cx="8229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13716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core sends R1 to the L1D.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R1 waits in the L1D read queue (RQ).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L1D lookup: miss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AB40"/>
                </a:solidFill>
                <a:latin typeface="Arial"/>
              </a:rPr>
              <a:t>+5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2121"/>
                </a:solidFill>
                <a:latin typeface="Arial"/>
              </a:rPr>
              <a:t>MSHR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4617720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2478024"/>
            <a:ext cx="12801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286000"/>
            <a:ext cx="548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A4335"/>
                </a:solidFill>
                <a:latin typeface="Arial"/>
              </a:rPr>
              <a:t>✗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89320" y="3017520"/>
            <a:ext cx="0" cy="228600"/>
          </a:xfrm>
          <a:prstGeom prst="line">
            <a:avLst/>
          </a:prstGeom>
          <a:ln w="38100">
            <a:solidFill>
              <a:srgbClr val="EA43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035040" y="2948939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A4335"/>
                </a:solidFill>
                <a:latin typeface="Arial"/>
              </a:rPr>
              <a:t>R1'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1371600"/>
            <a:ext cx="2377440" cy="54864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tag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1371600"/>
            <a:ext cx="1463040" cy="548640"/>
          </a:xfrm>
          <a:prstGeom prst="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12121"/>
                </a:solidFill>
                <a:latin typeface="Arial"/>
              </a:rPr>
              <a:t>index: 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789920" y="1371600"/>
            <a:ext cx="91440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121"/>
                </a:solidFill>
                <a:latin typeface="Arial"/>
              </a:rPr>
              <a:t>offset: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64 sets in the L1D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25603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We read the index bits to find the set.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Then we compare the tag bits with the tag of every valid way in that set.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No tag matches, so it is a </a:t>
            </a:r>
            <a:r>
              <a:rPr sz="2000" b="1">
                <a:solidFill>
                  <a:srgbClr val="212121"/>
                </a:solidFill>
                <a:latin typeface="Arial"/>
              </a:rPr>
              <a:t>miss</a:t>
            </a:r>
            <a:r>
              <a:rPr sz="2000" b="0">
                <a:solidFill>
                  <a:srgbClr val="212121"/>
                </a:solidFill>
                <a:latin typeface="Arial"/>
              </a:rPr>
              <a:t>!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R1 moves to an MSHR, and the L1D sends </a:t>
            </a:r>
            <a:r>
              <a:rPr sz="2000" b="1">
                <a:solidFill>
                  <a:srgbClr val="212121"/>
                </a:solidFill>
                <a:latin typeface="Arial"/>
              </a:rPr>
              <a:t>R1'</a:t>
            </a:r>
            <a:r>
              <a:rPr sz="2000" b="0">
                <a:solidFill>
                  <a:srgbClr val="212121"/>
                </a:solidFill>
                <a:latin typeface="Arial"/>
              </a:rPr>
              <a:t> down to the L2C.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R1' enters the L2C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2121"/>
                </a:solidFill>
                <a:latin typeface="Arial"/>
              </a:rPr>
              <a:t>RQ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4617720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2478024"/>
            <a:ext cx="12801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0320" y="3575303"/>
            <a:ext cx="8229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R1'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13716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R1' waits in the L2C read queue.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L2C lookup: miss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AB40"/>
                </a:solidFill>
                <a:latin typeface="Arial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2121"/>
                </a:solidFill>
                <a:latin typeface="Arial"/>
              </a:rPr>
              <a:t>MSHR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4617720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2478024"/>
            <a:ext cx="12801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3575303"/>
            <a:ext cx="12801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R1'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383279"/>
            <a:ext cx="548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A4335"/>
                </a:solidFill>
                <a:latin typeface="Arial"/>
              </a:rPr>
              <a:t>✗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89320" y="4114800"/>
            <a:ext cx="0" cy="228600"/>
          </a:xfrm>
          <a:prstGeom prst="line">
            <a:avLst/>
          </a:prstGeom>
          <a:ln w="38100">
            <a:solidFill>
              <a:srgbClr val="EA43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35040" y="40462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A4335"/>
                </a:solidFill>
                <a:latin typeface="Arial"/>
              </a:rPr>
              <a:t>R1''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0" y="1371600"/>
            <a:ext cx="2377440" cy="54864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tag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1371600"/>
            <a:ext cx="1463040" cy="548640"/>
          </a:xfrm>
          <a:prstGeom prst="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12121"/>
                </a:solidFill>
                <a:latin typeface="Arial"/>
              </a:rPr>
              <a:t>index: 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789920" y="1371600"/>
            <a:ext cx="91440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121"/>
                </a:solidFill>
                <a:latin typeface="Arial"/>
              </a:rPr>
              <a:t>offset: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1024 sets in the L2C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25603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L2C does the same lookup in its own sets.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No tag matches here either: </a:t>
            </a:r>
            <a:r>
              <a:rPr sz="2000" b="1">
                <a:solidFill>
                  <a:srgbClr val="212121"/>
                </a:solidFill>
                <a:latin typeface="Arial"/>
              </a:rPr>
              <a:t>miss</a:t>
            </a:r>
            <a:r>
              <a:rPr sz="2000" b="0">
                <a:solidFill>
                  <a:srgbClr val="212121"/>
                </a:solidFill>
                <a:latin typeface="Arial"/>
              </a:rPr>
              <a:t>!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R1' moves to an L2C MSHR, and the L2C sends </a:t>
            </a:r>
            <a:r>
              <a:rPr sz="2000" b="1">
                <a:solidFill>
                  <a:srgbClr val="212121"/>
                </a:solidFill>
                <a:latin typeface="Arial"/>
              </a:rPr>
              <a:t>R1''</a:t>
            </a:r>
            <a:r>
              <a:rPr sz="2000" b="0">
                <a:solidFill>
                  <a:srgbClr val="212121"/>
                </a:solidFill>
                <a:latin typeface="Arial"/>
              </a:rPr>
              <a:t> down to the LLC.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R1'' enters the LLC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2121"/>
                </a:solidFill>
                <a:latin typeface="Arial"/>
              </a:rPr>
              <a:t>RQ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4617720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2478024"/>
            <a:ext cx="12801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3575303"/>
            <a:ext cx="12801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R1'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60320" y="4672584"/>
            <a:ext cx="8229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R1''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13716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R1'' waits in the LLC read queue.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LLC lookup: hit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AB40"/>
                </a:solidFill>
                <a:latin typeface="Arial"/>
              </a:rPr>
              <a:t>+20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4617720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2478024"/>
            <a:ext cx="12801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3575303"/>
            <a:ext cx="12801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R1'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480560"/>
            <a:ext cx="548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4A853"/>
                </a:solidFill>
                <a:latin typeface="Arial"/>
              </a:rPr>
              <a:t>✓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5760720" y="4114800"/>
            <a:ext cx="0" cy="228600"/>
          </a:xfrm>
          <a:prstGeom prst="line">
            <a:avLst/>
          </a:prstGeom>
          <a:ln w="38100">
            <a:solidFill>
              <a:srgbClr val="34A8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297679" y="40462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4A853"/>
                </a:solidFill>
                <a:latin typeface="Arial"/>
              </a:rPr>
              <a:t>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0" y="1371600"/>
            <a:ext cx="2377440" cy="54864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tag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1371600"/>
            <a:ext cx="1463040" cy="548640"/>
          </a:xfrm>
          <a:prstGeom prst="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12121"/>
                </a:solidFill>
                <a:latin typeface="Arial"/>
              </a:rPr>
              <a:t>index: 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789920" y="1371600"/>
            <a:ext cx="91440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12121"/>
                </a:solidFill>
                <a:latin typeface="Arial"/>
              </a:rPr>
              <a:t>offset: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2048 sets in the LLC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25603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LLC finds a matching tag in the set: </a:t>
            </a:r>
            <a:r>
              <a:rPr sz="2000" b="1">
                <a:solidFill>
                  <a:srgbClr val="212121"/>
                </a:solidFill>
                <a:latin typeface="Arial"/>
              </a:rPr>
              <a:t>hit</a:t>
            </a:r>
            <a:r>
              <a:rPr sz="2000" b="0">
                <a:solidFill>
                  <a:srgbClr val="212121"/>
                </a:solidFill>
                <a:latin typeface="Arial"/>
              </a:rPr>
              <a:t>!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LLC sends the data up to the L2C.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The data reaches the L2C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2121"/>
                </a:solidFill>
                <a:latin typeface="Arial"/>
              </a:rPr>
              <a:t>MSHR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4617720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2478024"/>
            <a:ext cx="12801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3575303"/>
            <a:ext cx="12801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R1' 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13716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response finds the MSHR entry that waits for line A.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That entry is now ready to fill.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The L2C fills the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4617720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19" y="3520439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2478024"/>
            <a:ext cx="12801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R1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5760720" y="3017520"/>
            <a:ext cx="0" cy="228600"/>
          </a:xfrm>
          <a:prstGeom prst="line">
            <a:avLst/>
          </a:prstGeom>
          <a:ln w="38100">
            <a:solidFill>
              <a:srgbClr val="34A8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97679" y="2948939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4A853"/>
                </a:solidFill>
                <a:latin typeface="Arial"/>
              </a:rPr>
              <a:t>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13716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L2C writes line A into the set.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It frees the MSHR entry and sends the data up to the L1D.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The data reaches the L1D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2121"/>
                </a:solidFill>
                <a:latin typeface="Arial"/>
              </a:rPr>
              <a:t>MSHR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4617720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19" y="3520439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2478024"/>
            <a:ext cx="12801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R1 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13716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L1D MSHR entry for line A is now ready.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The L1D fills the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4617720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19" y="3520439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74519" y="2423160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5760720" y="1874519"/>
            <a:ext cx="0" cy="274321"/>
          </a:xfrm>
          <a:prstGeom prst="line">
            <a:avLst/>
          </a:prstGeom>
          <a:ln w="38100">
            <a:solidFill>
              <a:srgbClr val="34A8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97679" y="18288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4A853"/>
                </a:solidFill>
                <a:latin typeface="Arial"/>
              </a:rPr>
              <a:t>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13716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L1D writes line A and frees its MSHR entry.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core gets its data, and R1 is done.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lookups alone take at least </a:t>
            </a:r>
            <a:r>
              <a:rPr sz="2000" b="1">
                <a:solidFill>
                  <a:srgbClr val="212121"/>
                </a:solidFill>
                <a:latin typeface="Arial"/>
              </a:rPr>
              <a:t>5 + 10 + 20 = 35</a:t>
            </a:r>
            <a:r>
              <a:rPr sz="2000" b="0">
                <a:solidFill>
                  <a:srgbClr val="212121"/>
                </a:solidFill>
                <a:latin typeface="Arial"/>
              </a:rPr>
              <a:t> cycles.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Packets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Caches talk to each other with messages called </a:t>
            </a:r>
            <a:r>
              <a:rPr sz="2400" b="1">
                <a:solidFill>
                  <a:srgbClr val="212121"/>
                </a:solidFill>
                <a:latin typeface="Arial"/>
              </a:rPr>
              <a:t>packets</a:t>
            </a:r>
            <a:r>
              <a:rPr sz="24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A cache sends a </a:t>
            </a:r>
            <a:r>
              <a:rPr sz="2400" b="1">
                <a:solidFill>
                  <a:srgbClr val="212121"/>
                </a:solidFill>
                <a:latin typeface="Arial"/>
              </a:rPr>
              <a:t>request</a:t>
            </a:r>
            <a:r>
              <a:rPr sz="2400" b="0">
                <a:solidFill>
                  <a:srgbClr val="212121"/>
                </a:solidFill>
                <a:latin typeface="Arial"/>
              </a:rPr>
              <a:t> down when it misses.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The level below sends a </a:t>
            </a:r>
            <a:r>
              <a:rPr sz="2400" b="1">
                <a:solidFill>
                  <a:srgbClr val="212121"/>
                </a:solidFill>
                <a:latin typeface="Arial"/>
              </a:rPr>
              <a:t>response</a:t>
            </a:r>
            <a:r>
              <a:rPr sz="2400" b="0">
                <a:solidFill>
                  <a:srgbClr val="212121"/>
                </a:solidFill>
                <a:latin typeface="Arial"/>
              </a:rPr>
              <a:t> back up with the data.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In ChampSim the response is the same packet, with the data filled in.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What a request carries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1">
                <a:solidFill>
                  <a:srgbClr val="1E8E3E"/>
                </a:solidFill>
                <a:latin typeface="JetBrains Mono"/>
              </a:rPr>
              <a:t>address</a:t>
            </a:r>
            <a:r>
              <a:rPr sz="2400" b="0">
                <a:solidFill>
                  <a:srgbClr val="212121"/>
                </a:solidFill>
                <a:latin typeface="Arial"/>
              </a:rPr>
              <a:t>: the line we want. It gives the set and the tag.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1">
                <a:solidFill>
                  <a:srgbClr val="1E8E3E"/>
                </a:solidFill>
                <a:latin typeface="JetBrains Mono"/>
              </a:rPr>
              <a:t>type</a:t>
            </a:r>
            <a:r>
              <a:rPr sz="2400" b="0">
                <a:solidFill>
                  <a:srgbClr val="212121"/>
                </a:solidFill>
                <a:latin typeface="Arial"/>
              </a:rPr>
              <a:t>: the kind of request (next slide).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ip</a:t>
            </a:r>
            <a:r>
              <a:rPr sz="2400" b="0">
                <a:solidFill>
                  <a:srgbClr val="212121"/>
                </a:solidFill>
                <a:latin typeface="Arial"/>
              </a:rPr>
              <a:t>: the address of the instruction that made the access.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cpu</a:t>
            </a:r>
            <a:r>
              <a:rPr sz="2400" b="0">
                <a:solidFill>
                  <a:srgbClr val="212121"/>
                </a:solidFill>
                <a:latin typeface="Arial"/>
              </a:rPr>
              <a:t>,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instr_id</a:t>
            </a:r>
            <a:r>
              <a:rPr sz="2400" b="0">
                <a:solidFill>
                  <a:srgbClr val="212121"/>
                </a:solidFill>
                <a:latin typeface="Arial"/>
              </a:rPr>
              <a:t>: who waits for the data.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to_return</a:t>
            </a:r>
            <a:r>
              <a:rPr sz="2400" b="0">
                <a:solidFill>
                  <a:srgbClr val="212121"/>
                </a:solidFill>
                <a:latin typeface="Arial"/>
              </a:rPr>
              <a:t>: the caches to answer.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What a response carries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1">
                <a:solidFill>
                  <a:srgbClr val="1E8E3E"/>
                </a:solidFill>
                <a:latin typeface="JetBrains Mono"/>
              </a:rPr>
              <a:t>address</a:t>
            </a:r>
            <a:r>
              <a:rPr sz="2400" b="0">
                <a:solidFill>
                  <a:srgbClr val="212121"/>
                </a:solidFill>
                <a:latin typeface="Arial"/>
              </a:rPr>
              <a:t> and </a:t>
            </a:r>
            <a:r>
              <a:rPr sz="2400" b="1">
                <a:solidFill>
                  <a:srgbClr val="1E8E3E"/>
                </a:solidFill>
                <a:latin typeface="JetBrains Mono"/>
              </a:rPr>
              <a:t>type</a:t>
            </a:r>
            <a:r>
              <a:rPr sz="2400" b="0">
                <a:solidFill>
                  <a:srgbClr val="212121"/>
                </a:solidFill>
                <a:latin typeface="Arial"/>
              </a:rPr>
              <a:t>: the same as in the request.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data</a:t>
            </a:r>
            <a:r>
              <a:rPr sz="2400" b="0">
                <a:solidFill>
                  <a:srgbClr val="212121"/>
                </a:solidFill>
                <a:latin typeface="Arial"/>
              </a:rPr>
              <a:t>: the line itself.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The cache sends the response to every cache listed in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to_return</a:t>
            </a:r>
            <a:r>
              <a:rPr sz="2400" b="0">
                <a:solidFill>
                  <a:srgbClr val="21212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Types of requests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1">
                <a:solidFill>
                  <a:srgbClr val="1E8E3E"/>
                </a:solidFill>
                <a:latin typeface="JetBrains Mono"/>
              </a:rPr>
              <a:t>LOAD</a:t>
            </a:r>
            <a:r>
              <a:rPr sz="2400" b="0">
                <a:solidFill>
                  <a:srgbClr val="212121"/>
                </a:solidFill>
                <a:latin typeface="Arial"/>
              </a:rPr>
              <a:t>: the program reads data. A load that the program asks for is a </a:t>
            </a:r>
            <a:r>
              <a:rPr sz="2400" b="1">
                <a:solidFill>
                  <a:srgbClr val="212121"/>
                </a:solidFill>
                <a:latin typeface="Arial"/>
              </a:rPr>
              <a:t>demand load</a:t>
            </a:r>
            <a:r>
              <a:rPr sz="24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1">
                <a:solidFill>
                  <a:srgbClr val="1E8E3E"/>
                </a:solidFill>
                <a:latin typeface="JetBrains Mono"/>
              </a:rPr>
              <a:t>RFO</a:t>
            </a:r>
            <a:r>
              <a:rPr sz="2400" b="0">
                <a:solidFill>
                  <a:srgbClr val="212121"/>
                </a:solidFill>
                <a:latin typeface="Arial"/>
              </a:rPr>
              <a:t> (read for ownership): the program writes data. The cache must read the line first.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1">
                <a:solidFill>
                  <a:srgbClr val="1E8E3E"/>
                </a:solidFill>
                <a:latin typeface="JetBrains Mono"/>
              </a:rPr>
              <a:t>WRITEBACK</a:t>
            </a:r>
            <a:r>
              <a:rPr sz="2400" b="0">
                <a:solidFill>
                  <a:srgbClr val="212121"/>
                </a:solidFill>
                <a:latin typeface="Arial"/>
              </a:rPr>
              <a:t>: the cache sends a modified line down when it evicts it.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PREFETCH</a:t>
            </a:r>
            <a:r>
              <a:rPr sz="2400" b="0">
                <a:solidFill>
                  <a:srgbClr val="212121"/>
                </a:solidFill>
                <a:latin typeface="Arial"/>
              </a:rPr>
              <a:t>: a guess at what the program will need soon. It is off in this lab.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TRANSLATION</a:t>
            </a:r>
            <a:r>
              <a:rPr sz="2400" b="0">
                <a:solidFill>
                  <a:srgbClr val="212121"/>
                </a:solidFill>
                <a:latin typeface="Arial"/>
              </a:rPr>
              <a:t>: page-table reads. You will see them in the OS course.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Before we trace a store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64556"/>
            <a:ext cx="11247120" cy="4224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I want to store to an address whose line is not in the L1D.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86958"/>
            <a:ext cx="11247120" cy="4224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What will happen?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Tracing a store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0" y="5664708"/>
            <a:ext cx="4937760" cy="6446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B1FA2"/>
                </a:solidFill>
                <a:latin typeface="Arial"/>
              </a:rPr>
              <a:t>Q: What does it mean for a line to "reside" in the L2C?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19" y="3520439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1399032"/>
            <a:ext cx="1645920" cy="402336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12121"/>
                </a:solidFill>
                <a:latin typeface="Arial"/>
              </a:rPr>
              <a:t>R2 · store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13716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We follow one store, </a:t>
            </a:r>
            <a:r>
              <a:rPr sz="2000" b="1">
                <a:solidFill>
                  <a:srgbClr val="212121"/>
                </a:solidFill>
                <a:latin typeface="Arial"/>
              </a:rPr>
              <a:t>R2</a:t>
            </a:r>
            <a:r>
              <a:rPr sz="2000" b="0">
                <a:solidFill>
                  <a:srgbClr val="212121"/>
                </a:solidFill>
                <a:latin typeface="Arial"/>
              </a:rPr>
              <a:t>, to line B.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Line B is in the L2C, but not in the L1D.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Each packet now shows its type: LOAD, RFO or WRITEBACK.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R2 enters the L1D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2121"/>
                </a:solidFill>
                <a:latin typeface="Arial"/>
              </a:rPr>
              <a:t>WQ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3520439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2478024"/>
            <a:ext cx="8229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13716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Stores enter the L1D through its write queue (WQ).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L1D lookup: miss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AB40"/>
                </a:solidFill>
                <a:latin typeface="Arial"/>
              </a:rPr>
              <a:t>+5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2121"/>
                </a:solidFill>
                <a:latin typeface="Arial"/>
              </a:rPr>
              <a:t>MSHR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3520439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2478024"/>
            <a:ext cx="12801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R2 RFO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286000"/>
            <a:ext cx="548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A4335"/>
                </a:solidFill>
                <a:latin typeface="Arial"/>
              </a:rPr>
              <a:t>✗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89320" y="3017520"/>
            <a:ext cx="0" cy="228600"/>
          </a:xfrm>
          <a:prstGeom prst="line">
            <a:avLst/>
          </a:prstGeom>
          <a:ln w="38100">
            <a:solidFill>
              <a:srgbClr val="EA43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035040" y="2948939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A4335"/>
                </a:solidFill>
                <a:latin typeface="Arial"/>
              </a:rPr>
              <a:t>R2' RFO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13716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Line B is not in the L1D: </a:t>
            </a:r>
            <a:r>
              <a:rPr sz="2000" b="1">
                <a:solidFill>
                  <a:srgbClr val="212121"/>
                </a:solidFill>
                <a:latin typeface="Arial"/>
              </a:rPr>
              <a:t>miss</a:t>
            </a:r>
            <a:r>
              <a:rPr sz="2000" b="0">
                <a:solidFill>
                  <a:srgbClr val="212121"/>
                </a:solidFill>
                <a:latin typeface="Arial"/>
              </a:rPr>
              <a:t>!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L1D must read line B before it can change it.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R2 takes an MSHR, and the L1D sends </a:t>
            </a:r>
            <a:r>
              <a:rPr sz="2000" b="1">
                <a:solidFill>
                  <a:srgbClr val="212121"/>
                </a:solidFill>
                <a:latin typeface="Arial"/>
              </a:rPr>
              <a:t>R2' (RFO)</a:t>
            </a:r>
            <a:r>
              <a:rPr sz="2000" b="0">
                <a:solidFill>
                  <a:srgbClr val="212121"/>
                </a:solidFill>
                <a:latin typeface="Arial"/>
              </a:rPr>
              <a:t> down.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L2C lookup: hit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AB40"/>
                </a:solidFill>
                <a:latin typeface="Arial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2121"/>
                </a:solidFill>
                <a:latin typeface="Arial"/>
              </a:rPr>
              <a:t>RQ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3520439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2478024"/>
            <a:ext cx="12801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R2 RFO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0320" y="3575303"/>
            <a:ext cx="8229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R2' RFO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383279"/>
            <a:ext cx="548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34A853"/>
                </a:solidFill>
                <a:latin typeface="Arial"/>
              </a:rPr>
              <a:t>✓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5760720" y="3017520"/>
            <a:ext cx="0" cy="228600"/>
          </a:xfrm>
          <a:prstGeom prst="line">
            <a:avLst/>
          </a:prstGeom>
          <a:ln w="38100">
            <a:solidFill>
              <a:srgbClr val="34A8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297679" y="2948939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34A853"/>
                </a:solidFill>
                <a:latin typeface="Arial"/>
              </a:rPr>
              <a:t>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13716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R2' arrives in the L2C read queue.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L2C has line B: </a:t>
            </a:r>
            <a:r>
              <a:rPr sz="2000" b="1">
                <a:solidFill>
                  <a:srgbClr val="212121"/>
                </a:solidFill>
                <a:latin typeface="Arial"/>
              </a:rPr>
              <a:t>hit</a:t>
            </a:r>
            <a:r>
              <a:rPr sz="2000" b="0">
                <a:solidFill>
                  <a:srgbClr val="212121"/>
                </a:solidFill>
                <a:latin typeface="Arial"/>
              </a:rPr>
              <a:t>! It sends B up.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The L1D fills B and marks it dirty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AB40"/>
                </a:solidFill>
                <a:latin typeface="Arial"/>
              </a:rPr>
              <a:t>+5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3520439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19" y="2423160"/>
            <a:ext cx="502920" cy="4572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13716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L1D writes line B and applies the store.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Line B now differs from the copy in the L2C, so we call it </a:t>
            </a:r>
            <a:r>
              <a:rPr sz="2000" b="1">
                <a:solidFill>
                  <a:srgbClr val="212121"/>
                </a:solidFill>
                <a:latin typeface="Arial"/>
              </a:rPr>
              <a:t>dirty</a:t>
            </a:r>
            <a:r>
              <a:rPr sz="2000" b="0">
                <a:solidFill>
                  <a:srgbClr val="212121"/>
                </a:solidFill>
                <a:latin typeface="Arial"/>
              </a:rPr>
              <a:t> (red).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Dirty 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A dirty line holds the only up-to-date copy of its data.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When the cache evicts it, it must send it to the level below.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537708"/>
            <a:ext cx="11247120" cy="771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If a clean line has to leave the cache, do I even need to send it to the level below?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p-dw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538" y="960119"/>
            <a:ext cx="7412617" cy="49377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Arial"/>
              </a:rPr>
              <a:t>* In an exclusive hierarchy the level below keeps no copy, so clean lines are sent down too.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Evicting B: a writeback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40680"/>
            <a:ext cx="539496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12121"/>
                </a:solidFill>
                <a:latin typeface="Arial"/>
              </a:rPr>
              <a:t>DRAM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L1D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240487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42316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6712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42316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4612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350215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520439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520439"/>
            <a:ext cx="914400" cy="457200"/>
          </a:xfrm>
          <a:prstGeom prst="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6440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12121"/>
                </a:solidFill>
                <a:latin typeface="Arial"/>
              </a:rPr>
              <a:t>WQ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520439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644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5394960" cy="868680"/>
          </a:xfrm>
          <a:prstGeom prst="rect">
            <a:avLst/>
          </a:prstGeom>
          <a:solidFill>
            <a:srgbClr val="DCE8FD"/>
          </a:solidFill>
          <a:ln w="1905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LLC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" y="4599432"/>
            <a:ext cx="685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595959"/>
                </a:solidFill>
                <a:latin typeface="Arial"/>
              </a:rPr>
              <a:t>+20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4617720"/>
            <a:ext cx="914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36168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617720"/>
            <a:ext cx="13716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3616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MSHR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3520439"/>
            <a:ext cx="5029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3575303"/>
            <a:ext cx="822960" cy="347472"/>
          </a:xfrm>
          <a:prstGeom prst="roundRect">
            <a:avLst/>
          </a:prstGeom>
          <a:solidFill>
            <a:srgbClr val="FFAB40"/>
          </a:solidFill>
          <a:ln w="19050">
            <a:solidFill>
              <a:srgbClr val="21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12121"/>
                </a:solidFill>
                <a:latin typeface="Arial"/>
              </a:rPr>
              <a:t>R3 WB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89320" y="3017520"/>
            <a:ext cx="0" cy="228600"/>
          </a:xfrm>
          <a:prstGeom prst="line">
            <a:avLst/>
          </a:prstGeom>
          <a:ln w="38100">
            <a:solidFill>
              <a:srgbClr val="EA43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035040" y="2948939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A4335"/>
                </a:solidFill>
                <a:latin typeface="Arial"/>
              </a:rPr>
              <a:t>R3 WB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13716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Later, the L1D evicts line B.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</a:t>
            </a:r>
            <a:r>
              <a:rPr sz="2000" b="1">
                <a:solidFill>
                  <a:srgbClr val="212121"/>
                </a:solidFill>
                <a:latin typeface="Arial"/>
              </a:rPr>
              <a:t>R3 (WRITEBACK)</a:t>
            </a:r>
            <a:r>
              <a:rPr sz="2000" b="0">
                <a:solidFill>
                  <a:srgbClr val="212121"/>
                </a:solidFill>
                <a:latin typeface="Arial"/>
              </a:rPr>
              <a:t> carries line B down to the L2C.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R3 enters the L2C write queue, which holds writebacks.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Queues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1">
                <a:solidFill>
                  <a:srgbClr val="212121"/>
                </a:solidFill>
                <a:latin typeface="Arial"/>
              </a:rPr>
              <a:t>RQ</a:t>
            </a:r>
            <a:r>
              <a:rPr sz="2400" b="0">
                <a:solidFill>
                  <a:srgbClr val="212121"/>
                </a:solidFill>
                <a:latin typeface="Arial"/>
              </a:rPr>
              <a:t> (read queue): loads and RFOs wait here to be served.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1">
                <a:solidFill>
                  <a:srgbClr val="212121"/>
                </a:solidFill>
                <a:latin typeface="Arial"/>
              </a:rPr>
              <a:t>WQ</a:t>
            </a:r>
            <a:r>
              <a:rPr sz="2400" b="0">
                <a:solidFill>
                  <a:srgbClr val="212121"/>
                </a:solidFill>
                <a:latin typeface="Arial"/>
              </a:rPr>
              <a:t> (write queue): at the L1D, stores from the core wait here.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1">
                <a:solidFill>
                  <a:srgbClr val="212121"/>
                </a:solidFill>
                <a:latin typeface="Arial"/>
              </a:rPr>
              <a:t>Writeback queue</a:t>
            </a:r>
            <a:r>
              <a:rPr sz="2400" b="0">
                <a:solidFill>
                  <a:srgbClr val="212121"/>
                </a:solidFill>
                <a:latin typeface="Arial"/>
              </a:rPr>
              <a:t>: dirty lines from the level above wait here. ChampSim uses the WQ for this too.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86958"/>
            <a:ext cx="11247120" cy="4224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Which cache level does not need a writeback queue?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MSHR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A miss can take </a:t>
            </a:r>
            <a:r>
              <a:rPr sz="2400" b="1">
                <a:solidFill>
                  <a:srgbClr val="212121"/>
                </a:solidFill>
                <a:latin typeface="Arial"/>
              </a:rPr>
              <a:t>hundreds</a:t>
            </a:r>
            <a:r>
              <a:rPr sz="2400" b="0">
                <a:solidFill>
                  <a:srgbClr val="212121"/>
                </a:solidFill>
                <a:latin typeface="Arial"/>
              </a:rPr>
              <a:t> of cycles to return.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If it waited in the RQ, every request behind it would wait too.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So the cache moves it to an </a:t>
            </a:r>
            <a:r>
              <a:rPr sz="2400" b="1">
                <a:solidFill>
                  <a:srgbClr val="212121"/>
                </a:solidFill>
                <a:latin typeface="Arial"/>
              </a:rPr>
              <a:t>MSHR</a:t>
            </a:r>
            <a:r>
              <a:rPr sz="2400" b="0">
                <a:solidFill>
                  <a:srgbClr val="212121"/>
                </a:solidFill>
                <a:latin typeface="Arial"/>
              </a:rPr>
              <a:t> (miss status holding register) and serves the next request.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A second miss to the same line joins the existing MSHR entry. (* Think about the massive benefits of this.)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Any other miss gets a new entry.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86958"/>
            <a:ext cx="11247120" cy="4224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What happens if all MSHRs are full?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p-kev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697" y="777240"/>
            <a:ext cx="77343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1">
                <a:solidFill>
                  <a:srgbClr val="212121"/>
                </a:solidFill>
                <a:latin typeface="Arial"/>
              </a:rPr>
              <a:t>Miss rate</a:t>
            </a:r>
            <a:r>
              <a:rPr sz="2200" b="0">
                <a:solidFill>
                  <a:srgbClr val="212121"/>
                </a:solidFill>
                <a:latin typeface="Arial"/>
              </a:rPr>
              <a:t> = misses / accesses.</a:t>
            </a:r>
          </a:p>
          <a:p>
            <a:pPr lvl="1">
              <a:spcAft>
                <a:spcPts val="800"/>
              </a:spcAft>
            </a:pPr>
            <a:r>
              <a:rPr sz="1900" b="0">
                <a:solidFill>
                  <a:srgbClr val="595959"/>
                </a:solidFill>
                <a:latin typeface="Arial"/>
              </a:rPr>
              <a:t>– The fraction of accesses that this cache could not serve.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1">
                <a:solidFill>
                  <a:srgbClr val="212121"/>
                </a:solidFill>
                <a:latin typeface="Arial"/>
              </a:rPr>
              <a:t>MPKI</a:t>
            </a:r>
            <a:r>
              <a:rPr sz="2200" b="0">
                <a:solidFill>
                  <a:srgbClr val="212121"/>
                </a:solidFill>
                <a:latin typeface="Arial"/>
              </a:rPr>
              <a:t> = misses per 1000 instructions.</a:t>
            </a:r>
          </a:p>
          <a:p>
            <a:pPr lvl="1">
              <a:spcAft>
                <a:spcPts val="800"/>
              </a:spcAft>
            </a:pPr>
            <a:r>
              <a:rPr sz="1900" b="0">
                <a:solidFill>
                  <a:srgbClr val="595959"/>
                </a:solidFill>
                <a:latin typeface="Arial"/>
              </a:rPr>
              <a:t>– Misses measured against the work the program does.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1">
                <a:solidFill>
                  <a:srgbClr val="212121"/>
                </a:solidFill>
                <a:latin typeface="Arial"/>
              </a:rPr>
              <a:t>Average miss latency</a:t>
            </a:r>
            <a:r>
              <a:rPr sz="2200" b="0">
                <a:solidFill>
                  <a:srgbClr val="212121"/>
                </a:solidFill>
                <a:latin typeface="Arial"/>
              </a:rPr>
              <a:t> = cycles from a miss until its data arrives.</a:t>
            </a:r>
          </a:p>
          <a:p>
            <a:pPr lvl="1">
              <a:spcAft>
                <a:spcPts val="800"/>
              </a:spcAft>
            </a:pPr>
            <a:r>
              <a:rPr sz="1900" b="0">
                <a:solidFill>
                  <a:srgbClr val="595959"/>
                </a:solidFill>
                <a:latin typeface="Arial"/>
              </a:rPr>
              <a:t>– ChampSim counts from when the request entered the queue until the fill, at that level only.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LLC,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soplex</a:t>
            </a:r>
            <a:r>
              <a:rPr sz="2200" b="0">
                <a:solidFill>
                  <a:srgbClr val="212121"/>
                </a:solidFill>
                <a:latin typeface="Arial"/>
              </a:rPr>
              <a:t>, 1M + 10M:</a:t>
            </a:r>
          </a:p>
          <a:p>
            <a:pPr lvl="1">
              <a:spcAft>
                <a:spcPts val="800"/>
              </a:spcAft>
            </a:pPr>
            <a:r>
              <a:rPr sz="1900" b="0">
                <a:solidFill>
                  <a:srgbClr val="595959"/>
                </a:solidFill>
                <a:latin typeface="Arial"/>
              </a:rPr>
              <a:t>– </a:t>
            </a:r>
            <a:r>
              <a:rPr sz="1900" b="1">
                <a:solidFill>
                  <a:srgbClr val="595959"/>
                </a:solidFill>
                <a:latin typeface="Arial"/>
              </a:rPr>
              <a:t>286 951</a:t>
            </a:r>
            <a:r>
              <a:rPr sz="1900" b="0">
                <a:solidFill>
                  <a:srgbClr val="595959"/>
                </a:solidFill>
                <a:latin typeface="Arial"/>
              </a:rPr>
              <a:t> misses of </a:t>
            </a:r>
            <a:r>
              <a:rPr sz="1900" b="1">
                <a:solidFill>
                  <a:srgbClr val="595959"/>
                </a:solidFill>
                <a:latin typeface="Arial"/>
              </a:rPr>
              <a:t>504 999</a:t>
            </a:r>
            <a:r>
              <a:rPr sz="1900" b="0">
                <a:solidFill>
                  <a:srgbClr val="595959"/>
                </a:solidFill>
                <a:latin typeface="Arial"/>
              </a:rPr>
              <a:t> accesses: miss rate </a:t>
            </a:r>
            <a:r>
              <a:rPr sz="1900" b="1">
                <a:solidFill>
                  <a:srgbClr val="595959"/>
                </a:solidFill>
                <a:latin typeface="Arial"/>
              </a:rPr>
              <a:t>56.8%</a:t>
            </a:r>
            <a:r>
              <a:rPr sz="1900" b="0">
                <a:solidFill>
                  <a:srgbClr val="595959"/>
                </a:solidFill>
                <a:latin typeface="Arial"/>
              </a:rPr>
              <a:t>, MPKI </a:t>
            </a:r>
            <a:r>
              <a:rPr sz="1900" b="1">
                <a:solidFill>
                  <a:srgbClr val="595959"/>
                </a:solidFill>
                <a:latin typeface="Arial"/>
              </a:rPr>
              <a:t>28.7</a:t>
            </a:r>
            <a:r>
              <a:rPr sz="1900" b="0">
                <a:solidFill>
                  <a:srgbClr val="595959"/>
                </a:solidFill>
                <a:latin typeface="Arial"/>
              </a:rPr>
              <a:t>, average miss latency </a:t>
            </a:r>
            <a:r>
              <a:rPr sz="1900" b="1">
                <a:solidFill>
                  <a:srgbClr val="595959"/>
                </a:solidFill>
                <a:latin typeface="Arial"/>
              </a:rPr>
              <a:t>426</a:t>
            </a:r>
            <a:r>
              <a:rPr sz="1900" b="0">
                <a:solidFill>
                  <a:srgbClr val="595959"/>
                </a:solidFill>
                <a:latin typeface="Arial"/>
              </a:rPr>
              <a:t> cycles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463040"/>
            <a:ext cx="3474720" cy="1371600"/>
          </a:xfrm>
          <a:prstGeom prst="rect">
            <a:avLst/>
          </a:prstGeom>
          <a:solidFill>
            <a:srgbClr val="FFF3E0"/>
          </a:solidFill>
          <a:ln w="19050">
            <a:solidFill>
              <a:srgbClr val="FFA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12121"/>
                </a:solidFill>
                <a:latin typeface="Arial"/>
              </a:rPr>
              <a:t>AMAT = hit time</a:t>
            </a:r>
          </a:p>
          <a:p>
            <a:pPr algn="ctr"/>
            <a:r>
              <a:rPr sz="1800" b="1">
                <a:solidFill>
                  <a:srgbClr val="212121"/>
                </a:solidFill>
                <a:latin typeface="Arial"/>
              </a:rPr>
              <a:t>+ miss rate × miss penalty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88036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Arial"/>
              </a:rPr>
              <a:t>Average memory access time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Which metric?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The miss rate depends on how many accesses reach the cache.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MPKI compares the misses with the work the program does.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The miss latency tells you how much each miss costs.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537708"/>
            <a:ext cx="11247120" cy="771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I optimize a program P. Its miss rate increases but its MPKI decreases. Does that make sense?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Metrics at every 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537708"/>
            <a:ext cx="11247120" cy="771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Why are the L2C and LLC miss rates so much higher than the L1D miss rate?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1981199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179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CPU 0 cumulative IPC: 0.317071 instructions: 10000000 cycles: 31538718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cpu0_L1D TOTAL     ACCESS:    1489120  HIT:    1048653  MISS:     440467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cpu0_L1D AVERAGE MISS LATENCY: 305.874 cycles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cpu0_L2C TOTAL     ACCESS:     630218  HIT:     274097  MISS:     356121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cpu0_L2C AVERAGE MISS LATENCY: 364.649 cycles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LLC TOTAL     ACCESS:     504999  HIT:     218048  MISS:     286951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LLC AVERAGE MISS LATENCY: 426.488 cycles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35679"/>
            <a:ext cx="11247120" cy="249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We can compute the same metrics at every cache level.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Each level only sees the misses of the level above it.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Metrics at every level: computed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920240"/>
                <a:gridCol w="1828800"/>
                <a:gridCol w="1828800"/>
                <a:gridCol w="146304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Accesses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Misses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Miss rate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MPKI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Avg miss latency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12121"/>
                          </a:solidFill>
                          <a:latin typeface="JetBrains Mono"/>
                        </a:rPr>
                        <a:t>L1D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12121"/>
                          </a:solidFill>
                          <a:latin typeface="Arial"/>
                        </a:rPr>
                        <a:t>1 489 120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12121"/>
                          </a:solidFill>
                          <a:latin typeface="Arial"/>
                        </a:rPr>
                        <a:t>440 467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12121"/>
                          </a:solidFill>
                          <a:latin typeface="Arial"/>
                        </a:rPr>
                        <a:t>29.6%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12121"/>
                          </a:solidFill>
                          <a:latin typeface="Arial"/>
                        </a:rPr>
                        <a:t>44.0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12121"/>
                          </a:solidFill>
                          <a:latin typeface="Arial"/>
                        </a:rPr>
                        <a:t>306 cycles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12121"/>
                          </a:solidFill>
                          <a:latin typeface="JetBrains Mono"/>
                        </a:rPr>
                        <a:t>L2C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12121"/>
                          </a:solidFill>
                          <a:latin typeface="Arial"/>
                        </a:rPr>
                        <a:t>630 218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12121"/>
                          </a:solidFill>
                          <a:latin typeface="Arial"/>
                        </a:rPr>
                        <a:t>356 121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12121"/>
                          </a:solidFill>
                          <a:latin typeface="Arial"/>
                        </a:rPr>
                        <a:t>56.5%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12121"/>
                          </a:solidFill>
                          <a:latin typeface="Arial"/>
                        </a:rPr>
                        <a:t>35.6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12121"/>
                          </a:solidFill>
                          <a:latin typeface="Arial"/>
                        </a:rPr>
                        <a:t>365 cycles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12121"/>
                          </a:solidFill>
                          <a:latin typeface="JetBrains Mono"/>
                        </a:rPr>
                        <a:t>LLC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12121"/>
                          </a:solidFill>
                          <a:latin typeface="Arial"/>
                        </a:rPr>
                        <a:t>504 999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12121"/>
                          </a:solidFill>
                          <a:latin typeface="Arial"/>
                        </a:rPr>
                        <a:t>286 951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12121"/>
                          </a:solidFill>
                          <a:latin typeface="Arial"/>
                        </a:rPr>
                        <a:t>56.8%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12121"/>
                          </a:solidFill>
                          <a:latin typeface="Arial"/>
                        </a:rPr>
                        <a:t>28.7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212121"/>
                          </a:solidFill>
                          <a:latin typeface="Arial"/>
                        </a:rPr>
                        <a:t>426 cycles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As seen by the core, </a:t>
            </a:r>
            <a:r>
              <a:rPr sz="2200" b="1">
                <a:solidFill>
                  <a:srgbClr val="212121"/>
                </a:solidFill>
                <a:latin typeface="Arial"/>
              </a:rPr>
              <a:t>286 951</a:t>
            </a:r>
            <a:r>
              <a:rPr sz="2200" b="0">
                <a:solidFill>
                  <a:srgbClr val="212121"/>
                </a:solidFill>
                <a:latin typeface="Arial"/>
              </a:rPr>
              <a:t> of </a:t>
            </a:r>
            <a:r>
              <a:rPr sz="2200" b="1">
                <a:solidFill>
                  <a:srgbClr val="212121"/>
                </a:solidFill>
                <a:latin typeface="Arial"/>
              </a:rPr>
              <a:t>1 489 120</a:t>
            </a:r>
            <a:r>
              <a:rPr sz="2200" b="0">
                <a:solidFill>
                  <a:srgbClr val="212121"/>
                </a:solidFill>
                <a:latin typeface="Arial"/>
              </a:rPr>
              <a:t> accesses go all the way to DRAM: </a:t>
            </a:r>
            <a:r>
              <a:rPr sz="2200" b="1">
                <a:solidFill>
                  <a:srgbClr val="212121"/>
                </a:solidFill>
                <a:latin typeface="Arial"/>
              </a:rPr>
              <a:t>19.3%</a:t>
            </a:r>
            <a:r>
              <a:rPr sz="22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Fewer misses usually mean fewer cycles.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B1FA2"/>
                </a:solidFill>
                <a:latin typeface="Arial"/>
              </a:rPr>
              <a:t>Q: Fewer misses: did the programmer or compiler change the program, or did the hardware improve? In the first case IPC can go either way. In the second case IPC goes up.</a:t>
            </a:r>
          </a:p>
        </p:txBody>
      </p:sp>
      <p:sp>
        <p:nvSpPr>
          <p:cNvPr id="7" name="TextBox 6">
            <a:hlinkClick action="ppaction://hlinksldjump" r:id="rId2"/>
          </p:cNvPr>
          <p:cNvSpPr txBox="1"/>
          <p:nvPr/>
        </p:nvSpPr>
        <p:spPr>
          <a:xfrm>
            <a:off x="9418320" y="4114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4285F4"/>
                </a:solidFill>
                <a:latin typeface="Arial"/>
              </a:rPr>
              <a:t>← back to Metrics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Branch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948469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1765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47"/>
              </a:lnSpc>
            </a:pPr>
            <a:r>
              <a:rPr sz="1373" i="0">
                <a:solidFill>
                  <a:srgbClr val="ECEFF1"/>
                </a:solidFill>
                <a:latin typeface="JetBrains Mono"/>
              </a:rPr>
              <a:t>CPU 0 Branch Prediction Accuracy: 92.9366% MPKI: 16.5733 Average ROB Occupancy at Mispredict: 31.4444</a:t>
            </a:r>
          </a:p>
          <a:p>
            <a:pPr algn="l">
              <a:lnSpc>
                <a:spcPts val="1647"/>
              </a:lnSpc>
            </a:pPr>
            <a:r>
              <a:rPr sz="1373" i="0">
                <a:solidFill>
                  <a:srgbClr val="ECEFF1"/>
                </a:solidFill>
                <a:latin typeface="JetBrains Mono"/>
              </a:rPr>
              <a:t>Branch type MPKI</a:t>
            </a:r>
          </a:p>
          <a:p>
            <a:pPr algn="l">
              <a:lnSpc>
                <a:spcPts val="1647"/>
              </a:lnSpc>
            </a:pPr>
            <a:r>
              <a:rPr sz="1373" i="0">
                <a:solidFill>
                  <a:srgbClr val="ECEFF1"/>
                </a:solidFill>
                <a:latin typeface="JetBrains Mono"/>
              </a:rPr>
              <a:t>BRANCH_DIRECT_JUMP: 0.0051</a:t>
            </a:r>
          </a:p>
          <a:p>
            <a:pPr algn="l">
              <a:lnSpc>
                <a:spcPts val="1647"/>
              </a:lnSpc>
            </a:pPr>
            <a:r>
              <a:rPr sz="1373" i="0">
                <a:solidFill>
                  <a:srgbClr val="ECEFF1"/>
                </a:solidFill>
                <a:latin typeface="JetBrains Mono"/>
              </a:rPr>
              <a:t>BRANCH_INDIRECT: 0.0004</a:t>
            </a:r>
          </a:p>
          <a:p>
            <a:pPr algn="l">
              <a:lnSpc>
                <a:spcPts val="1647"/>
              </a:lnSpc>
            </a:pPr>
            <a:r>
              <a:rPr sz="1373" i="0">
                <a:solidFill>
                  <a:srgbClr val="ECEFF1"/>
                </a:solidFill>
                <a:latin typeface="JetBrains Mono"/>
              </a:rPr>
              <a:t>BRANCH_CONDITIONAL: 16.5589</a:t>
            </a:r>
          </a:p>
          <a:p>
            <a:pPr algn="l">
              <a:lnSpc>
                <a:spcPts val="1647"/>
              </a:lnSpc>
            </a:pPr>
            <a:r>
              <a:rPr sz="1373" i="0">
                <a:solidFill>
                  <a:srgbClr val="ECEFF1"/>
                </a:solidFill>
                <a:latin typeface="JetBrains Mono"/>
              </a:rPr>
              <a:t>BRANCH_DIRECT_CALL: 0.003</a:t>
            </a:r>
          </a:p>
          <a:p>
            <a:pPr algn="l">
              <a:lnSpc>
                <a:spcPts val="1647"/>
              </a:lnSpc>
            </a:pPr>
            <a:r>
              <a:rPr sz="1373" i="0">
                <a:solidFill>
                  <a:srgbClr val="ECEFF1"/>
                </a:solidFill>
                <a:latin typeface="JetBrains Mono"/>
              </a:rPr>
              <a:t>BRANCH_INDIRECT_CALL: 0.0013</a:t>
            </a:r>
          </a:p>
          <a:p>
            <a:pPr algn="l">
              <a:lnSpc>
                <a:spcPts val="1647"/>
              </a:lnSpc>
            </a:pPr>
            <a:r>
              <a:rPr sz="1373" i="0">
                <a:solidFill>
                  <a:srgbClr val="ECEFF1"/>
                </a:solidFill>
                <a:latin typeface="JetBrains Mono"/>
              </a:rPr>
              <a:t>BRANCH_RETURN: 0.0046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02949"/>
            <a:ext cx="11247120" cy="2532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1">
                <a:solidFill>
                  <a:srgbClr val="212121"/>
                </a:solidFill>
                <a:latin typeface="Arial"/>
              </a:rPr>
              <a:t>Accuracy</a:t>
            </a:r>
            <a:r>
              <a:rPr sz="2200" b="0">
                <a:solidFill>
                  <a:srgbClr val="212121"/>
                </a:solidFill>
                <a:latin typeface="Arial"/>
              </a:rPr>
              <a:t>: the fraction of branches whose direction and target were predicted correctly.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1">
                <a:solidFill>
                  <a:srgbClr val="212121"/>
                </a:solidFill>
                <a:latin typeface="Arial"/>
              </a:rPr>
              <a:t>MPKI</a:t>
            </a:r>
            <a:r>
              <a:rPr sz="2200" b="0">
                <a:solidFill>
                  <a:srgbClr val="212121"/>
                </a:solidFill>
                <a:latin typeface="Arial"/>
              </a:rPr>
              <a:t>: mispredictions per 1000 instructions. The rows below split it by branch type; they add up to it.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1">
                <a:solidFill>
                  <a:srgbClr val="212121"/>
                </a:solidFill>
                <a:latin typeface="Arial"/>
              </a:rPr>
              <a:t>Conditional</a:t>
            </a:r>
            <a:r>
              <a:rPr sz="2200" b="0">
                <a:solidFill>
                  <a:srgbClr val="212121"/>
                </a:solidFill>
                <a:latin typeface="Arial"/>
              </a:rPr>
              <a:t> branches (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if</a:t>
            </a:r>
            <a:r>
              <a:rPr sz="2200" b="0">
                <a:solidFill>
                  <a:srgbClr val="212121"/>
                </a:solidFill>
                <a:latin typeface="Arial"/>
              </a:rPr>
              <a:t>, loop exits) cause almost all mispredictions. Direct jumps and calls have their target in the instruction; indirect ones read it from a register or memory; a return goes back to its caller.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Ignore the ROB occupancy number.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AB40"/>
                </a:solidFill>
                <a:latin typeface="Arial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Replacement policies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49039"/>
            <a:ext cx="1463040" cy="7315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Sets and ways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Choosing a victim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LRU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Recall: set-associative caches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We covered sets, ways and the bits of an address at the start of Part 2.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The next two slides repeat the key pictures.</a:t>
            </a:r>
          </a:p>
        </p:txBody>
      </p:sp>
      <p:sp>
        <p:nvSpPr>
          <p:cNvPr id="5" name="TextBox 4">
            <a:hlinkClick action="ppaction://hlinksldjump" r:id="rId2"/>
          </p:cNvPr>
          <p:cNvSpPr txBox="1"/>
          <p:nvPr/>
        </p:nvSpPr>
        <p:spPr>
          <a:xfrm>
            <a:off x="457200" y="31089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285F4"/>
                </a:solidFill>
                <a:latin typeface="Arial"/>
              </a:rPr>
              <a:t>→ Recap: sets and ways</a:t>
            </a:r>
          </a:p>
        </p:txBody>
      </p:sp>
      <p:sp>
        <p:nvSpPr>
          <p:cNvPr id="6" name="TextBox 5">
            <a:hlinkClick action="ppaction://hlinksldjump" r:id="rId3"/>
          </p:cNvPr>
          <p:cNvSpPr txBox="1"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285F4"/>
                </a:solidFill>
                <a:latin typeface="Arial"/>
              </a:rPr>
              <a:t>→ Recap: the bits of an address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Recall: sets and 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31-p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133" y="1325880"/>
            <a:ext cx="910542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Recall: a 4-way set-associative cache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31-p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133" y="1325880"/>
            <a:ext cx="910542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Which line do we replace?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32-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133" y="1325880"/>
            <a:ext cx="910542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LRU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32-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133" y="1325880"/>
            <a:ext cx="910542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Replacement policies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A set has a fixed number of ways. When a new line arrives and the set is full, one line must leave.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A replacement policy decides three things:</a:t>
            </a:r>
          </a:p>
          <a:p>
            <a:pPr lvl="1">
              <a:spcAft>
                <a:spcPts val="800"/>
              </a:spcAft>
            </a:pPr>
            <a:r>
              <a:rPr sz="1900" b="0">
                <a:solidFill>
                  <a:srgbClr val="595959"/>
                </a:solidFill>
                <a:latin typeface="Arial"/>
              </a:rPr>
              <a:t>– </a:t>
            </a:r>
            <a:r>
              <a:rPr sz="1900" b="1">
                <a:solidFill>
                  <a:srgbClr val="595959"/>
                </a:solidFill>
                <a:latin typeface="Arial"/>
              </a:rPr>
              <a:t>Insertion</a:t>
            </a:r>
            <a:r>
              <a:rPr sz="1900" b="0">
                <a:solidFill>
                  <a:srgbClr val="595959"/>
                </a:solidFill>
                <a:latin typeface="Arial"/>
              </a:rPr>
              <a:t>: where a new line starts.</a:t>
            </a:r>
          </a:p>
          <a:p>
            <a:pPr lvl="1">
              <a:spcAft>
                <a:spcPts val="800"/>
              </a:spcAft>
            </a:pPr>
            <a:r>
              <a:rPr sz="1900" b="0">
                <a:solidFill>
                  <a:srgbClr val="595959"/>
                </a:solidFill>
                <a:latin typeface="Arial"/>
              </a:rPr>
              <a:t>– </a:t>
            </a:r>
            <a:r>
              <a:rPr sz="1900" b="1">
                <a:solidFill>
                  <a:srgbClr val="595959"/>
                </a:solidFill>
                <a:latin typeface="Arial"/>
              </a:rPr>
              <a:t>Promotion</a:t>
            </a:r>
            <a:r>
              <a:rPr sz="1900" b="0">
                <a:solidFill>
                  <a:srgbClr val="595959"/>
                </a:solidFill>
                <a:latin typeface="Arial"/>
              </a:rPr>
              <a:t>: what a hit does to a line.</a:t>
            </a:r>
          </a:p>
          <a:p>
            <a:pPr lvl="1">
              <a:spcAft>
                <a:spcPts val="800"/>
              </a:spcAft>
            </a:pPr>
            <a:r>
              <a:rPr sz="1900" b="0">
                <a:solidFill>
                  <a:srgbClr val="595959"/>
                </a:solidFill>
                <a:latin typeface="Arial"/>
              </a:rPr>
              <a:t>– </a:t>
            </a:r>
            <a:r>
              <a:rPr sz="1900" b="1">
                <a:solidFill>
                  <a:srgbClr val="595959"/>
                </a:solidFill>
                <a:latin typeface="Arial"/>
              </a:rPr>
              <a:t>Eviction</a:t>
            </a:r>
            <a:r>
              <a:rPr sz="1900" b="0">
                <a:solidFill>
                  <a:srgbClr val="595959"/>
                </a:solidFill>
                <a:latin typeface="Arial"/>
              </a:rPr>
              <a:t>: which line leaves.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Programs tend to reuse the data they used recently. LRU bets on this: the line that has not been used for the longest time is the least likely to be needed soon.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So LRU inserts and promotes a line as the most recent, and evicts the least recent.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An L1 has only a few cycles per access, so its policy must be cheap. Lower levels can afford more state.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There are many replacement policies. We discuss a few of them. A policy can also choose to keep no copy at all (bypassing, see the extra slides).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Review: you can now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What are request and response packets, and what information do they carry?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Why do caches need an RQ, a WQ and MSHRs?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What are LOAD, RFO and WRITEBACK requests?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Why does a full set need a replacement policy?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What does LRU insert, promote and evict?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What do miss rate, MPKI and miss latency measure?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AB40"/>
                </a:solidFill>
                <a:latin typeface="Arial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ChampSim under the hood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49039"/>
            <a:ext cx="1463040" cy="7315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The main loop and the output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cache.cc: the read path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Task 1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Replacement code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Tasks 2 and 3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Reference: the write path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How ChampSim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7132320" cy="2926816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6858000" cy="274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40"/>
              </a:lnSpc>
            </a:pPr>
            <a:r>
              <a:rPr sz="1450" i="1">
                <a:solidFill>
                  <a:srgbClr val="7F8C98"/>
                </a:solidFill>
                <a:latin typeface="JetBrains Mono"/>
              </a:rPr>
              <a:t>// main.cc:414 (trimmed)</a:t>
            </a:r>
          </a:p>
          <a:p>
            <a:pPr algn="l">
              <a:lnSpc>
                <a:spcPts val="1740"/>
              </a:lnSpc>
            </a:pPr>
            <a:r>
              <a:rPr sz="1450" i="0">
                <a:solidFill>
                  <a:srgbClr val="C792EA"/>
                </a:solidFill>
                <a:latin typeface="JetBrains Mono"/>
              </a:rPr>
              <a:t>while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simulation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50" i="0">
                <a:solidFill>
                  <a:srgbClr val="C792EA"/>
                </a:solidFill>
                <a:latin typeface="JetBrains Mono"/>
              </a:rPr>
              <a:t>not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complete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1740"/>
              </a:lnSpc>
            </a:pPr>
            <a:r>
              <a:rPr sz="1450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450" i="0">
                <a:solidFill>
                  <a:srgbClr val="C792EA"/>
                </a:solidFill>
                <a:latin typeface="JetBrains Mono"/>
              </a:rPr>
              <a:t>for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450" i="0">
                <a:solidFill>
                  <a:srgbClr val="C792EA"/>
                </a:solidFill>
                <a:latin typeface="JetBrains Mono"/>
              </a:rPr>
              <a:t>auto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op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5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operables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       </a:t>
            </a:r>
            <a:r>
              <a:rPr sz="1450" i="1">
                <a:solidFill>
                  <a:srgbClr val="7F8C98"/>
                </a:solidFill>
                <a:latin typeface="JetBrains Mono"/>
              </a:rPr>
              <a:t>// cores, caches, DRAM</a:t>
            </a:r>
          </a:p>
          <a:p>
            <a:pPr algn="l">
              <a:lnSpc>
                <a:spcPts val="1740"/>
              </a:lnSpc>
            </a:pPr>
            <a:r>
              <a:rPr sz="1450" i="0">
                <a:solidFill>
                  <a:srgbClr val="ECEFF1"/>
                </a:solidFill>
                <a:latin typeface="JetBrains Mono"/>
              </a:rPr>
              <a:t>        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op</a:t>
            </a:r>
            <a:r>
              <a:rPr sz="1450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450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_operate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             </a:t>
            </a:r>
            <a:r>
              <a:rPr sz="1450" i="1">
                <a:solidFill>
                  <a:srgbClr val="7F8C98"/>
                </a:solidFill>
                <a:latin typeface="JetBrains Mono"/>
              </a:rPr>
              <a:t>// one cycle each</a:t>
            </a:r>
          </a:p>
          <a:p>
            <a:pPr algn="l">
              <a:lnSpc>
                <a:spcPts val="1740"/>
              </a:lnSpc>
            </a:pPr>
          </a:p>
          <a:p>
            <a:pPr algn="l">
              <a:lnSpc>
                <a:spcPts val="1740"/>
              </a:lnSpc>
            </a:pPr>
            <a:r>
              <a:rPr sz="1450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450" i="1">
                <a:solidFill>
                  <a:srgbClr val="7F8C98"/>
                </a:solidFill>
                <a:latin typeface="JetBrains Mono"/>
              </a:rPr>
              <a:t>// read the next instructions from the trace</a:t>
            </a:r>
          </a:p>
          <a:p>
            <a:pPr algn="l">
              <a:lnSpc>
                <a:spcPts val="1740"/>
              </a:lnSpc>
            </a:pPr>
            <a:r>
              <a:rPr sz="1450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ooo_cpu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i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450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450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init_instruction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traces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i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450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450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get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740"/>
              </a:lnSpc>
            </a:pPr>
          </a:p>
          <a:p>
            <a:pPr algn="l">
              <a:lnSpc>
                <a:spcPts val="1740"/>
              </a:lnSpc>
            </a:pPr>
            <a:r>
              <a:rPr sz="1450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450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num_retired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50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warmup_instructions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)</a:t>
            </a:r>
          </a:p>
          <a:p>
            <a:pPr algn="l">
              <a:lnSpc>
                <a:spcPts val="1740"/>
              </a:lnSpc>
            </a:pPr>
            <a:r>
              <a:rPr sz="1450" i="0">
                <a:solidFill>
                  <a:srgbClr val="ECEFF1"/>
                </a:solidFill>
                <a:latin typeface="JetBrains Mono"/>
              </a:rPr>
              <a:t>        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finish_warmup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450" i="0">
                <a:solidFill>
                  <a:srgbClr val="ECEFF1"/>
                </a:solidFill>
                <a:latin typeface="JetBrains Mono"/>
              </a:rPr>
              <a:t>            </a:t>
            </a:r>
            <a:r>
              <a:rPr sz="1450" i="1">
                <a:solidFill>
                  <a:srgbClr val="7F8C98"/>
                </a:solidFill>
                <a:latin typeface="JetBrains Mono"/>
              </a:rPr>
              <a:t>// reset the statistics</a:t>
            </a:r>
          </a:p>
          <a:p>
            <a:pPr algn="l">
              <a:lnSpc>
                <a:spcPts val="1740"/>
              </a:lnSpc>
            </a:pPr>
            <a:r>
              <a:rPr sz="1450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740"/>
              </a:lnSpc>
            </a:pPr>
            <a:r>
              <a:rPr sz="1450" i="1">
                <a:solidFill>
                  <a:srgbClr val="7F8C98"/>
                </a:solidFill>
                <a:latin typeface="JetBrains Mono"/>
              </a:rPr>
              <a:t>// then print_roi_stats() for every cache</a:t>
            </a:r>
          </a:p>
          <a:p>
            <a:pPr algn="l">
              <a:lnSpc>
                <a:spcPts val="174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863840" y="13258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Open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09_inlab/Champsim</a:t>
            </a:r>
            <a:r>
              <a:rPr sz="2000" b="0">
                <a:solidFill>
                  <a:srgbClr val="212121"/>
                </a:solidFill>
                <a:latin typeface="Arial"/>
              </a:rPr>
              <a:t> and follow along.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ChampSim builds the caches and cores from the JSON.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In every cycle, each part runs one step.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warm-up runs first, then the counted instructions.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The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537708"/>
            <a:ext cx="11247120" cy="771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8E3E"/>
                </a:solidFill>
                <a:latin typeface="Arial"/>
              </a:rPr>
              <a:t>H: We will demystify what these terms and outputs mean. IPC = instructions per cycle: higher is better.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3116152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29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98"/>
              </a:lnSpc>
            </a:pPr>
            <a:r>
              <a:rPr sz="1165" i="0">
                <a:solidFill>
                  <a:srgbClr val="FFCB6B"/>
                </a:solidFill>
                <a:latin typeface="JetBrains Mono"/>
              </a:rPr>
              <a:t>$ ./bin/champsim --warmup_instructions 1000000 --simulation_instructions 10000000 /opt/CS231_Traces/soplex_66B.trace.xz</a:t>
            </a:r>
          </a:p>
          <a:p>
            <a:pPr algn="l">
              <a:lnSpc>
                <a:spcPts val="1398"/>
              </a:lnSpc>
            </a:pPr>
            <a:r>
              <a:rPr sz="1165" i="0">
                <a:solidFill>
                  <a:srgbClr val="7F8C98"/>
                </a:solidFill>
                <a:latin typeface="JetBrains Mono"/>
              </a:rPr>
              <a:t>Warmup complete CPU 0 instructions: 1000002 cycles: 267780</a:t>
            </a:r>
          </a:p>
          <a:p>
            <a:pPr algn="l">
              <a:lnSpc>
                <a:spcPts val="1398"/>
              </a:lnSpc>
            </a:pPr>
            <a:r>
              <a:rPr sz="1165" i="0">
                <a:solidFill>
                  <a:srgbClr val="7F8C98"/>
                </a:solidFill>
                <a:latin typeface="JetBrains Mono"/>
              </a:rPr>
              <a:t>Region of Interest Statistics</a:t>
            </a:r>
          </a:p>
          <a:p>
            <a:pPr algn="l">
              <a:lnSpc>
                <a:spcPts val="1398"/>
              </a:lnSpc>
            </a:pPr>
            <a:r>
              <a:rPr sz="1165" i="0">
                <a:solidFill>
                  <a:srgbClr val="C3E88D"/>
                </a:solidFill>
                <a:latin typeface="JetBrains Mono"/>
              </a:rPr>
              <a:t>CPU 0 cumulative IPC: 0.317071 instructions: 10000000 cycles: 31538718</a:t>
            </a:r>
          </a:p>
          <a:p>
            <a:pPr algn="l">
              <a:lnSpc>
                <a:spcPts val="1398"/>
              </a:lnSpc>
            </a:pPr>
            <a:r>
              <a:rPr sz="1165" i="0">
                <a:solidFill>
                  <a:srgbClr val="82AAFF"/>
                </a:solidFill>
                <a:latin typeface="JetBrains Mono"/>
              </a:rPr>
              <a:t>cpu0_L1D TOTAL     ACCESS:    1489120  HIT:    1048653  MISS:     440467</a:t>
            </a:r>
          </a:p>
          <a:p>
            <a:pPr algn="l">
              <a:lnSpc>
                <a:spcPts val="1398"/>
              </a:lnSpc>
            </a:pPr>
            <a:r>
              <a:rPr sz="1165" i="0">
                <a:solidFill>
                  <a:srgbClr val="82AAFF"/>
                </a:solidFill>
                <a:latin typeface="JetBrains Mono"/>
              </a:rPr>
              <a:t>cpu0_L1D LOAD      ACCESS:     977101  HIT:     596896  MISS:     380205</a:t>
            </a:r>
          </a:p>
          <a:p>
            <a:pPr algn="l">
              <a:lnSpc>
                <a:spcPts val="1398"/>
              </a:lnSpc>
            </a:pPr>
            <a:r>
              <a:rPr sz="1165" i="0">
                <a:solidFill>
                  <a:srgbClr val="82AAFF"/>
                </a:solidFill>
                <a:latin typeface="JetBrains Mono"/>
              </a:rPr>
              <a:t>cpu0_L1D RFO       ACCESS:     502094  HIT:     442134  MISS:      59960</a:t>
            </a:r>
          </a:p>
          <a:p>
            <a:pPr algn="l">
              <a:lnSpc>
                <a:spcPts val="1398"/>
              </a:lnSpc>
            </a:pPr>
            <a:r>
              <a:rPr sz="1165" i="0">
                <a:solidFill>
                  <a:srgbClr val="C792EA"/>
                </a:solidFill>
                <a:latin typeface="JetBrains Mono"/>
              </a:rPr>
              <a:t>cpu0_L2C TOTAL     ACCESS:     630218  HIT:     274097  MISS:     356121</a:t>
            </a:r>
          </a:p>
          <a:p>
            <a:pPr algn="l">
              <a:lnSpc>
                <a:spcPts val="1398"/>
              </a:lnSpc>
            </a:pPr>
            <a:r>
              <a:rPr sz="1165" i="0">
                <a:solidFill>
                  <a:srgbClr val="C792EA"/>
                </a:solidFill>
                <a:latin typeface="JetBrains Mono"/>
              </a:rPr>
              <a:t>cpu0_L2C WRITEBACK ACCESS:     189522  HIT:     189474  MISS:         48</a:t>
            </a:r>
          </a:p>
          <a:p>
            <a:pPr algn="l">
              <a:lnSpc>
                <a:spcPts val="1398"/>
              </a:lnSpc>
            </a:pPr>
            <a:r>
              <a:rPr sz="1165" i="0">
                <a:solidFill>
                  <a:srgbClr val="F78C6C"/>
                </a:solidFill>
                <a:latin typeface="JetBrains Mono"/>
              </a:rPr>
              <a:t>LLC TOTAL     ACCESS:     504999  HIT:     218048  MISS:     286951</a:t>
            </a:r>
          </a:p>
          <a:p>
            <a:pPr algn="l">
              <a:lnSpc>
                <a:spcPts val="1398"/>
              </a:lnSpc>
            </a:pPr>
            <a:r>
              <a:rPr sz="1165" i="0">
                <a:solidFill>
                  <a:srgbClr val="F78C6C"/>
                </a:solidFill>
                <a:latin typeface="JetBrains Mono"/>
              </a:rPr>
              <a:t>LLC LOAD      ACCESS:     305667  HIT:      57893  MISS:     247774</a:t>
            </a:r>
          </a:p>
          <a:p>
            <a:pPr algn="l">
              <a:lnSpc>
                <a:spcPts val="1398"/>
              </a:lnSpc>
            </a:pPr>
            <a:r>
              <a:rPr sz="1165" i="0">
                <a:solidFill>
                  <a:srgbClr val="F78C6C"/>
                </a:solidFill>
                <a:latin typeface="JetBrains Mono"/>
              </a:rPr>
              <a:t>LLC RFO       ACCESS:      50325  HIT:      11224  MISS:      39101</a:t>
            </a:r>
          </a:p>
          <a:p>
            <a:pPr algn="l">
              <a:lnSpc>
                <a:spcPts val="1398"/>
              </a:lnSpc>
            </a:pPr>
            <a:r>
              <a:rPr sz="1165" i="0">
                <a:solidFill>
                  <a:srgbClr val="F78C6C"/>
                </a:solidFill>
                <a:latin typeface="JetBrains Mono"/>
              </a:rPr>
              <a:t>LLC WRITEBACK ACCESS:     148931  HIT:     148895  MISS:         36</a:t>
            </a:r>
          </a:p>
          <a:p>
            <a:pPr algn="l">
              <a:lnSpc>
                <a:spcPts val="1398"/>
              </a:lnSpc>
            </a:pPr>
            <a:r>
              <a:rPr sz="1165" i="0">
                <a:solidFill>
                  <a:srgbClr val="F78C6C"/>
                </a:solidFill>
                <a:latin typeface="JetBrains Mono"/>
              </a:rPr>
              <a:t>LLC AVERAGE MISS LATENCY: 426.488 cycles</a:t>
            </a:r>
          </a:p>
          <a:p>
            <a:pPr algn="l">
              <a:lnSpc>
                <a:spcPts val="1398"/>
              </a:lnSpc>
            </a:pPr>
            <a:r>
              <a:rPr sz="1165" i="0">
                <a:solidFill>
                  <a:srgbClr val="89DDFF"/>
                </a:solidFill>
                <a:latin typeface="JetBrains Mono"/>
              </a:rPr>
              <a:t>CPU 0 Branch Prediction Accuracy: 92.9366% MPKI: 16.5733</a:t>
            </a:r>
          </a:p>
          <a:p>
            <a:pPr algn="l">
              <a:lnSpc>
                <a:spcPts val="1398"/>
              </a:lnSpc>
            </a:pPr>
            <a:r>
              <a:rPr sz="1165" i="0">
                <a:solidFill>
                  <a:srgbClr val="89DDFF"/>
                </a:solidFill>
                <a:latin typeface="JetBrains Mono"/>
              </a:rPr>
              <a:t>BRANCH_CONDITIONAL: 16.5589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What the output rows 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874519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2606039"/>
            <a:ext cx="11100816" cy="22860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2606039"/>
            <a:ext cx="54864" cy="22860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9728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i="0">
                <a:solidFill>
                  <a:srgbClr val="ECEFF1"/>
                </a:solidFill>
                <a:latin typeface="JetBrains Mono"/>
              </a:rPr>
              <a:t>cpu0_L1D TOTAL     ACCESS:    1489120  HIT:    1048653  MISS:     440467</a:t>
            </a:r>
          </a:p>
          <a:p>
            <a:pPr algn="l">
              <a:lnSpc>
                <a:spcPts val="1800"/>
              </a:lnSpc>
            </a:pPr>
            <a:r>
              <a:rPr sz="1500" i="0">
                <a:solidFill>
                  <a:srgbClr val="ECEFF1"/>
                </a:solidFill>
                <a:latin typeface="JetBrains Mono"/>
              </a:rPr>
              <a:t>cpu0_L1D LOAD      ACCESS:     977101  HIT:     596896  MISS:     380205</a:t>
            </a:r>
          </a:p>
          <a:p>
            <a:pPr algn="l">
              <a:lnSpc>
                <a:spcPts val="1800"/>
              </a:lnSpc>
            </a:pPr>
            <a:r>
              <a:rPr sz="1500" i="0">
                <a:solidFill>
                  <a:srgbClr val="ECEFF1"/>
                </a:solidFill>
                <a:latin typeface="JetBrains Mono"/>
              </a:rPr>
              <a:t>cpu0_L1D RFO       ACCESS:     502094  HIT:     442134  MISS:      59960</a:t>
            </a:r>
          </a:p>
          <a:p>
            <a:pPr algn="l">
              <a:lnSpc>
                <a:spcPts val="1800"/>
              </a:lnSpc>
            </a:pPr>
            <a:r>
              <a:rPr sz="1500" i="0">
                <a:solidFill>
                  <a:srgbClr val="ECEFF1"/>
                </a:solidFill>
                <a:latin typeface="JetBrains Mono"/>
              </a:rPr>
              <a:t>cpu0_L1D WRITEBACK ACCESS:          0  HIT:          0  MISS:          0</a:t>
            </a:r>
          </a:p>
          <a:p>
            <a:pPr algn="l">
              <a:lnSpc>
                <a:spcPts val="1800"/>
              </a:lnSpc>
            </a:pPr>
            <a:r>
              <a:rPr sz="1500" i="0">
                <a:solidFill>
                  <a:srgbClr val="ECEFF1"/>
                </a:solidFill>
                <a:latin typeface="JetBrains Mono"/>
              </a:rPr>
              <a:t>cpu0_L1D TRANSLATION ACCESS:       9925  HIT:       9623  MISS:        302</a:t>
            </a:r>
          </a:p>
          <a:p>
            <a:pPr algn="l">
              <a:lnSpc>
                <a:spcPts val="1800"/>
              </a:lnSpc>
            </a:pPr>
            <a:r>
              <a:rPr sz="1500" i="0">
                <a:solidFill>
                  <a:srgbClr val="ECEFF1"/>
                </a:solidFill>
                <a:latin typeface="JetBrains Mono"/>
              </a:rPr>
              <a:t>cpu0_L2C LOAD      ACCESS:     380439  HIT:      74768  MISS:     305671</a:t>
            </a:r>
          </a:p>
          <a:p>
            <a:pPr algn="l">
              <a:lnSpc>
                <a:spcPts val="1800"/>
              </a:lnSpc>
            </a:pPr>
            <a:r>
              <a:rPr sz="1500" i="0">
                <a:solidFill>
                  <a:srgbClr val="ECEFF1"/>
                </a:solidFill>
                <a:latin typeface="JetBrains Mono"/>
              </a:rPr>
              <a:t>cpu0_L2C WRITEBACK ACCESS:     189522  HIT:     189474  MISS:        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112471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1">
                <a:solidFill>
                  <a:srgbClr val="212121"/>
                </a:solidFill>
                <a:latin typeface="Arial"/>
              </a:rPr>
              <a:t>TOTAL</a:t>
            </a:r>
            <a:r>
              <a:rPr sz="2200" b="0">
                <a:solidFill>
                  <a:srgbClr val="212121"/>
                </a:solidFill>
                <a:latin typeface="Arial"/>
              </a:rPr>
              <a:t> adds up the rows below it.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1">
                <a:solidFill>
                  <a:srgbClr val="212121"/>
                </a:solidFill>
                <a:latin typeface="Arial"/>
              </a:rPr>
              <a:t>LOAD</a:t>
            </a:r>
            <a:r>
              <a:rPr sz="2200" b="0">
                <a:solidFill>
                  <a:srgbClr val="212121"/>
                </a:solidFill>
                <a:latin typeface="Arial"/>
              </a:rPr>
              <a:t>: at the L1D, the program's loads. At the L2C, the load misses of the L1D </a:t>
            </a:r>
            <a:r>
              <a:rPr sz="2200" b="1">
                <a:solidFill>
                  <a:srgbClr val="212121"/>
                </a:solidFill>
                <a:latin typeface="Arial"/>
              </a:rPr>
              <a:t>and</a:t>
            </a:r>
            <a:r>
              <a:rPr sz="2200" b="0">
                <a:solidFill>
                  <a:srgbClr val="212121"/>
                </a:solidFill>
                <a:latin typeface="Arial"/>
              </a:rPr>
              <a:t> of the L1I, so the rows do not map one to one.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1">
                <a:solidFill>
                  <a:srgbClr val="212121"/>
                </a:solidFill>
                <a:latin typeface="Arial"/>
              </a:rPr>
              <a:t>RFO</a:t>
            </a:r>
            <a:r>
              <a:rPr sz="2200" b="0">
                <a:solidFill>
                  <a:srgbClr val="212121"/>
                </a:solidFill>
                <a:latin typeface="Arial"/>
              </a:rPr>
              <a:t>: at the L1D, every store, hit or miss. Below it, the RFO misses of the level above.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1">
                <a:solidFill>
                  <a:srgbClr val="212121"/>
                </a:solidFill>
                <a:latin typeface="Arial"/>
              </a:rPr>
              <a:t>WRITEBACK</a:t>
            </a:r>
            <a:r>
              <a:rPr sz="2200" b="0">
                <a:solidFill>
                  <a:srgbClr val="212121"/>
                </a:solidFill>
                <a:latin typeface="Arial"/>
              </a:rPr>
              <a:t>: dirty lines from the level above. Always </a:t>
            </a:r>
            <a:r>
              <a:rPr sz="2200" b="1">
                <a:solidFill>
                  <a:srgbClr val="212121"/>
                </a:solidFill>
                <a:latin typeface="Arial"/>
              </a:rPr>
              <a:t>0</a:t>
            </a:r>
            <a:r>
              <a:rPr sz="2200" b="0">
                <a:solidFill>
                  <a:srgbClr val="212121"/>
                </a:solidFill>
                <a:latin typeface="Arial"/>
              </a:rPr>
              <a:t> at the L1D.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TRANSLATION</a:t>
            </a:r>
            <a:r>
              <a:rPr sz="2200" b="0">
                <a:solidFill>
                  <a:srgbClr val="212121"/>
                </a:solidFill>
                <a:latin typeface="Arial"/>
              </a:rPr>
              <a:t>: page-table reads, which also pass through the L1D.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PREFETCH</a:t>
            </a:r>
            <a:r>
              <a:rPr sz="2200" b="0">
                <a:solidFill>
                  <a:srgbClr val="212121"/>
                </a:solidFill>
                <a:latin typeface="Arial"/>
              </a:rPr>
              <a:t> rows stay </a:t>
            </a:r>
            <a:r>
              <a:rPr sz="2200" b="1">
                <a:solidFill>
                  <a:srgbClr val="212121"/>
                </a:solidFill>
                <a:latin typeface="Arial"/>
              </a:rPr>
              <a:t>0</a:t>
            </a:r>
            <a:r>
              <a:rPr sz="2200" b="0">
                <a:solidFill>
                  <a:srgbClr val="212121"/>
                </a:solidFill>
                <a:latin typeface="Arial"/>
              </a:rPr>
              <a:t>: prefetching is off.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The CACHE class (inc/cache.h)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537708"/>
            <a:ext cx="11247120" cy="771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8E3E"/>
                </a:solidFill>
                <a:latin typeface="Arial"/>
              </a:rPr>
              <a:t>H: Every cache in the hierarchy is one CACHE object. Everything in cache.cc works on these members.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393192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2194560"/>
            <a:ext cx="11100816" cy="24384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2194560"/>
            <a:ext cx="54864" cy="24384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2682240"/>
            <a:ext cx="11100816" cy="24384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" y="2682240"/>
            <a:ext cx="54864" cy="24384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3169920"/>
            <a:ext cx="11100816" cy="24384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3169920"/>
            <a:ext cx="54864" cy="24384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3413760"/>
            <a:ext cx="11100816" cy="24384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3413760"/>
            <a:ext cx="54864" cy="24384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417320"/>
            <a:ext cx="10972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</a:pPr>
            <a:r>
              <a:rPr sz="1600" i="0">
                <a:solidFill>
                  <a:srgbClr val="C792EA"/>
                </a:solidFill>
                <a:latin typeface="JetBrains Mono"/>
              </a:rPr>
              <a:t>class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CACHE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C792EA"/>
                </a:solidFill>
                <a:latin typeface="JetBrains Mono"/>
              </a:rPr>
              <a:t>public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champsim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operable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C792EA"/>
                </a:solidFill>
                <a:latin typeface="JetBrains Mono"/>
              </a:rPr>
              <a:t>public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: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600" i="0">
                <a:solidFill>
                  <a:srgbClr val="C792EA"/>
                </a:solidFill>
                <a:latin typeface="JetBrains Mono"/>
              </a:rPr>
              <a:t>const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std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string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NAME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                   </a:t>
            </a:r>
            <a:r>
              <a:rPr sz="1600" i="1">
                <a:solidFill>
                  <a:srgbClr val="7F8C98"/>
                </a:solidFill>
                <a:latin typeface="JetBrains Mono"/>
              </a:rPr>
              <a:t>// "cpu0_L1D", "cpu0_L2C", "LLC"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600" i="0">
                <a:solidFill>
                  <a:srgbClr val="C792EA"/>
                </a:solidFill>
                <a:latin typeface="JetBrains Mono"/>
              </a:rPr>
              <a:t>const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FFCB6B"/>
                </a:solidFill>
                <a:latin typeface="JetBrains Mono"/>
              </a:rPr>
              <a:t>uint32_t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NUM_SET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     </a:t>
            </a:r>
            <a:r>
              <a:rPr sz="1600" i="1">
                <a:solidFill>
                  <a:srgbClr val="7F8C98"/>
                </a:solidFill>
                <a:latin typeface="JetBrains Mono"/>
              </a:rPr>
              <a:t>// the shape, from the JSON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600" i="1">
                <a:solidFill>
                  <a:srgbClr val="7F8C98"/>
                </a:solidFill>
                <a:latin typeface="JetBrains Mono"/>
              </a:rPr>
              <a:t>// line (set, way) is block[set * NUM_WAY + way]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std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vector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BLOCK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block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{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NUM_SET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*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}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920"/>
              </a:lnSpc>
            </a:pP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champsim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delay_queue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PACKET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RQ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PQ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VAPQ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WQ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  </a:t>
            </a:r>
            <a:r>
              <a:rPr sz="1600" i="1">
                <a:solidFill>
                  <a:srgbClr val="7F8C98"/>
                </a:solidFill>
                <a:latin typeface="JetBrains Mono"/>
              </a:rPr>
              <a:t>// read, prefetch, write queues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std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list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PACKET</a:t>
            </a:r>
            <a:r>
              <a:rPr sz="1600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MSHR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                   </a:t>
            </a:r>
            <a:r>
              <a:rPr sz="1600" i="1">
                <a:solidFill>
                  <a:srgbClr val="7F8C98"/>
                </a:solidFill>
                <a:latin typeface="JetBrains Mono"/>
              </a:rPr>
              <a:t>// outstanding misses</a:t>
            </a:r>
          </a:p>
          <a:p>
            <a:pPr algn="l">
              <a:lnSpc>
                <a:spcPts val="1920"/>
              </a:lnSpc>
            </a:pP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600" i="0">
                <a:solidFill>
                  <a:srgbClr val="FFCB6B"/>
                </a:solidFill>
                <a:latin typeface="JetBrains Mono"/>
              </a:rPr>
              <a:t>uint64_t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sim_access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sim_hit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sim_miss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920"/>
              </a:lnSpc>
            </a:pP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600" i="0">
                <a:solidFill>
                  <a:srgbClr val="FFCB6B"/>
                </a:solidFill>
                <a:latin typeface="JetBrains Mono"/>
              </a:rPr>
              <a:t>void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82AAFF"/>
                </a:solidFill>
                <a:latin typeface="JetBrains Mono"/>
              </a:rPr>
              <a:t>operate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C792EA"/>
                </a:solidFill>
                <a:latin typeface="JetBrains Mono"/>
              </a:rPr>
              <a:t>override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                  </a:t>
            </a:r>
            <a:r>
              <a:rPr sz="1600" i="1">
                <a:solidFill>
                  <a:srgbClr val="7F8C98"/>
                </a:solidFill>
                <a:latin typeface="JetBrains Mono"/>
              </a:rPr>
              <a:t>// one cycle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600" i="0">
                <a:solidFill>
                  <a:srgbClr val="FFCB6B"/>
                </a:solidFill>
                <a:latin typeface="JetBrains Mono"/>
              </a:rPr>
              <a:t>void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82AAFF"/>
                </a:solidFill>
                <a:latin typeface="JetBrains Mono"/>
              </a:rPr>
              <a:t>handle_fill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FFCB6B"/>
                </a:solidFill>
                <a:latin typeface="JetBrains Mono"/>
              </a:rPr>
              <a:t>void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82AAFF"/>
                </a:solidFill>
                <a:latin typeface="JetBrains Mono"/>
              </a:rPr>
              <a:t>handle_writeback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FFCB6B"/>
                </a:solidFill>
                <a:latin typeface="JetBrains Mono"/>
              </a:rPr>
              <a:t>void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82AAFF"/>
                </a:solidFill>
                <a:latin typeface="JetBrains Mono"/>
              </a:rPr>
              <a:t>handle_read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.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}</a:t>
            </a:r>
            <a:r>
              <a:rPr sz="1600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920"/>
              </a:lnSpc>
            </a:p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The read path in cache.cc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2" y="1325880"/>
            <a:ext cx="8259769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cache.cc: operate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In every cycle, ChampSim calls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operate()</a:t>
            </a:r>
            <a:r>
              <a:rPr sz="2400" b="0">
                <a:solidFill>
                  <a:srgbClr val="212121"/>
                </a:solidFill>
                <a:latin typeface="Arial"/>
              </a:rPr>
              <a:t> on each cache. It first handles fills and writebacks, then reads.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11247120" cy="149352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0"/>
            <a:ext cx="10972800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i="0">
                <a:solidFill>
                  <a:srgbClr val="FFCB6B"/>
                </a:solidFill>
                <a:latin typeface="JetBrains Mono"/>
              </a:rPr>
              <a:t>void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2000" i="0">
                <a:solidFill>
                  <a:srgbClr val="82AAFF"/>
                </a:solidFill>
                <a:latin typeface="JetBrains Mono"/>
              </a:rPr>
              <a:t>CACHE::operate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2400"/>
              </a:lnSpc>
            </a:pPr>
            <a:r>
              <a:rPr sz="2000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operate_writes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   </a:t>
            </a:r>
            <a:r>
              <a:rPr sz="2000" i="1">
                <a:solidFill>
                  <a:srgbClr val="7F8C98"/>
                </a:solidFill>
                <a:latin typeface="JetBrains Mono"/>
              </a:rPr>
              <a:t>// handle_fill, handle_writeback</a:t>
            </a:r>
          </a:p>
          <a:p>
            <a:pPr algn="l">
              <a:lnSpc>
                <a:spcPts val="2400"/>
              </a:lnSpc>
            </a:pPr>
            <a:r>
              <a:rPr sz="2000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operate_reads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2000" i="1">
                <a:solidFill>
                  <a:srgbClr val="7F8C98"/>
                </a:solidFill>
                <a:latin typeface="JetBrains Mono"/>
              </a:rPr>
              <a:t>// handle_read, handle_prefetch</a:t>
            </a:r>
          </a:p>
          <a:p>
            <a:pPr algn="l">
              <a:lnSpc>
                <a:spcPts val="2400"/>
              </a:lnSpc>
            </a:pPr>
            <a:r>
              <a:rPr sz="2000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2400"/>
              </a:lnSpc>
            </a:p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cache.cc: handle_read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handle_read</a:t>
            </a:r>
            <a:r>
              <a:rPr sz="2400" b="0">
                <a:solidFill>
                  <a:srgbClr val="212121"/>
                </a:solidFill>
                <a:latin typeface="Arial"/>
              </a:rPr>
              <a:t> takes the oldest request from the RQ. On a hit it calls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readlike_hit</a:t>
            </a:r>
            <a:r>
              <a:rPr sz="2400" b="0">
                <a:solidFill>
                  <a:srgbClr val="212121"/>
                </a:solidFill>
                <a:latin typeface="Arial"/>
              </a:rPr>
              <a:t>; on a miss it calls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readlike_miss</a:t>
            </a:r>
            <a:r>
              <a:rPr sz="2400" b="0">
                <a:solidFill>
                  <a:srgbClr val="212121"/>
                </a:solidFill>
                <a:latin typeface="Arial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11247120" cy="57912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0"/>
            <a:ext cx="1097280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i="0">
                <a:solidFill>
                  <a:srgbClr val="FFCB6B"/>
                </a:solidFill>
                <a:latin typeface="JetBrains Mono"/>
              </a:rPr>
              <a:t>void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CACHE</a:t>
            </a:r>
            <a:r>
              <a:rPr sz="20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20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handle_read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            </a:t>
            </a:r>
            <a:r>
              <a:rPr sz="2000" i="1">
                <a:solidFill>
                  <a:srgbClr val="7F8C98"/>
                </a:solidFill>
                <a:latin typeface="JetBrains Mono"/>
              </a:rPr>
              <a:t>// cache.cc:122</a:t>
            </a:r>
          </a:p>
          <a:p>
            <a:pPr algn="l">
              <a:lnSpc>
                <a:spcPts val="2400"/>
              </a:lnSpc>
            </a:p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cache.cc: readlike_miss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readlike_miss</a:t>
            </a:r>
            <a:r>
              <a:rPr sz="2400" b="0">
                <a:solidFill>
                  <a:srgbClr val="212121"/>
                </a:solidFill>
                <a:latin typeface="Arial"/>
              </a:rPr>
              <a:t> joins the miss to an MSHR entry for the same line. If there is none, it allocates one and sends a request down.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11247120" cy="57912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0"/>
            <a:ext cx="1097280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i="0">
                <a:solidFill>
                  <a:srgbClr val="FFCB6B"/>
                </a:solidFill>
                <a:latin typeface="JetBrains Mono"/>
              </a:rPr>
              <a:t>bool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CACHE</a:t>
            </a:r>
            <a:r>
              <a:rPr sz="20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20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readlike_miss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PACKET</a:t>
            </a:r>
            <a:r>
              <a:rPr sz="2000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   </a:t>
            </a:r>
            <a:r>
              <a:rPr sz="2000" i="1">
                <a:solidFill>
                  <a:srgbClr val="7F8C98"/>
                </a:solidFill>
                <a:latin typeface="JetBrains Mono"/>
              </a:rPr>
              <a:t>// cache.cc:220</a:t>
            </a:r>
          </a:p>
          <a:p>
            <a:pPr algn="l">
              <a:lnSpc>
                <a:spcPts val="2400"/>
              </a:lnSpc>
            </a:p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cache.cc: return_data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The lower level calls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return_data</a:t>
            </a:r>
            <a:r>
              <a:rPr sz="2400" b="0">
                <a:solidFill>
                  <a:srgbClr val="212121"/>
                </a:solidFill>
                <a:latin typeface="Arial"/>
              </a:rPr>
              <a:t> when the data comes back. It marks the matching MSHR entry as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11247120" cy="57912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0"/>
            <a:ext cx="1097280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i="0">
                <a:solidFill>
                  <a:srgbClr val="FFCB6B"/>
                </a:solidFill>
                <a:latin typeface="JetBrains Mono"/>
              </a:rPr>
              <a:t>void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CACHE</a:t>
            </a:r>
            <a:r>
              <a:rPr sz="20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20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return_data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PACKET</a:t>
            </a:r>
            <a:r>
              <a:rPr sz="2000" i="0">
                <a:solidFill>
                  <a:srgbClr val="89DDFF"/>
                </a:solidFill>
                <a:latin typeface="JetBrains Mono"/>
              </a:rPr>
              <a:t>*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packet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   </a:t>
            </a:r>
            <a:r>
              <a:rPr sz="2000" i="1">
                <a:solidFill>
                  <a:srgbClr val="7F8C98"/>
                </a:solidFill>
                <a:latin typeface="JetBrains Mono"/>
              </a:rPr>
              <a:t>// cache.cc:655</a:t>
            </a:r>
          </a:p>
          <a:p>
            <a:pPr algn="l">
              <a:lnSpc>
                <a:spcPts val="2400"/>
              </a:lnSpc>
            </a:p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cache.cc: handle_fill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handle_fill</a:t>
            </a:r>
            <a:r>
              <a:rPr sz="2400" b="0">
                <a:solidFill>
                  <a:srgbClr val="212121"/>
                </a:solidFill>
                <a:latin typeface="Arial"/>
              </a:rPr>
              <a:t> takes a ready MSHR entry, writes the line into the set and answers the level above.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60320"/>
            <a:ext cx="11247120" cy="57912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51760"/>
            <a:ext cx="10972800" cy="396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2000" i="0">
                <a:solidFill>
                  <a:srgbClr val="FFCB6B"/>
                </a:solidFill>
                <a:latin typeface="JetBrains Mono"/>
              </a:rPr>
              <a:t>void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CACHE</a:t>
            </a:r>
            <a:r>
              <a:rPr sz="20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20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handle_fill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2000" i="0">
                <a:solidFill>
                  <a:srgbClr val="ECEFF1"/>
                </a:solidFill>
                <a:latin typeface="JetBrains Mono"/>
              </a:rPr>
              <a:t>            </a:t>
            </a:r>
            <a:r>
              <a:rPr sz="2000" i="1">
                <a:solidFill>
                  <a:srgbClr val="7F8C98"/>
                </a:solidFill>
                <a:latin typeface="JetBrains Mono"/>
              </a:rPr>
              <a:t>// cache.cc:34</a:t>
            </a:r>
          </a:p>
          <a:p>
            <a:pPr algn="l">
              <a:lnSpc>
                <a:spcPts val="2400"/>
              </a:lnSpc>
            </a:p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handle_read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7863840" cy="3513378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2987302"/>
            <a:ext cx="7717536" cy="190532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2987302"/>
            <a:ext cx="54864" cy="19053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3177835"/>
            <a:ext cx="7717536" cy="190532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3177835"/>
            <a:ext cx="54864" cy="19053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3368368"/>
            <a:ext cx="7717536" cy="190532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3368368"/>
            <a:ext cx="54864" cy="19053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3558901"/>
            <a:ext cx="7717536" cy="190532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3558901"/>
            <a:ext cx="54864" cy="19053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417320"/>
            <a:ext cx="7589519" cy="3330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250" i="0">
                <a:solidFill>
                  <a:srgbClr val="FFCB6B"/>
                </a:solidFill>
                <a:latin typeface="JetBrains Mono"/>
              </a:rPr>
              <a:t>void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82AAFF"/>
                </a:solidFill>
                <a:latin typeface="JetBrains Mono"/>
              </a:rPr>
              <a:t>CACHE::handle_read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1500"/>
              </a:lnSpc>
            </a:pPr>
            <a:r>
              <a:rPr sz="1250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250" i="0">
                <a:solidFill>
                  <a:srgbClr val="C792EA"/>
                </a:solidFill>
                <a:latin typeface="JetBrains Mono"/>
              </a:rPr>
              <a:t>while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reads_available_this_cycle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F78C6C"/>
                </a:solidFill>
                <a:latin typeface="JetBrains Mono"/>
              </a:rPr>
              <a:t>0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{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  </a:t>
            </a:r>
            <a:r>
              <a:rPr sz="1250" i="1">
                <a:solidFill>
                  <a:srgbClr val="7F8C98"/>
                </a:solidFill>
                <a:latin typeface="JetBrains Mono"/>
              </a:rPr>
              <a:t>// bandwidth: max_read</a:t>
            </a:r>
          </a:p>
          <a:p>
            <a:pPr algn="l">
              <a:lnSpc>
                <a:spcPts val="1500"/>
              </a:lnSpc>
            </a:pPr>
            <a:r>
              <a:rPr sz="1250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250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50" i="0">
                <a:solidFill>
                  <a:srgbClr val="89DDFF"/>
                </a:solidFill>
                <a:latin typeface="JetBrains Mono"/>
              </a:rPr>
              <a:t>!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RQ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has_ready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500"/>
              </a:lnSpc>
            </a:pPr>
            <a:r>
              <a:rPr sz="1250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PACKET</a:t>
            </a:r>
            <a:r>
              <a:rPr sz="1250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RQ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front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        </a:t>
            </a:r>
            <a:r>
              <a:rPr sz="1250" i="1">
                <a:solidFill>
                  <a:srgbClr val="7F8C98"/>
                </a:solidFill>
                <a:latin typeface="JetBrains Mono"/>
              </a:rPr>
              <a:t>// oldest request</a:t>
            </a:r>
          </a:p>
          <a:p>
            <a:pPr algn="l">
              <a:lnSpc>
                <a:spcPts val="1500"/>
              </a:lnSpc>
            </a:pPr>
          </a:p>
          <a:p>
            <a:pPr algn="l">
              <a:lnSpc>
                <a:spcPts val="1500"/>
              </a:lnSpc>
            </a:pPr>
            <a:r>
              <a:rPr sz="1250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250" i="0">
                <a:solidFill>
                  <a:srgbClr val="FFCB6B"/>
                </a:solidFill>
                <a:latin typeface="JetBrains Mono"/>
              </a:rPr>
              <a:t>uint32_t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get_set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address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500"/>
              </a:lnSpc>
            </a:pPr>
            <a:r>
              <a:rPr sz="1250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250" i="0">
                <a:solidFill>
                  <a:srgbClr val="FFCB6B"/>
                </a:solidFill>
                <a:latin typeface="JetBrains Mono"/>
              </a:rPr>
              <a:t>uint32_t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get_way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address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250" i="1">
                <a:solidFill>
                  <a:srgbClr val="7F8C98"/>
                </a:solidFill>
                <a:latin typeface="JetBrains Mono"/>
              </a:rPr>
              <a:t>// NUM_WAY if absent</a:t>
            </a:r>
          </a:p>
          <a:p>
            <a:pPr algn="l">
              <a:lnSpc>
                <a:spcPts val="1500"/>
              </a:lnSpc>
            </a:pPr>
          </a:p>
          <a:p>
            <a:pPr algn="l">
              <a:lnSpc>
                <a:spcPts val="1500"/>
              </a:lnSpc>
            </a:pPr>
            <a:r>
              <a:rPr sz="1250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250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                      </a:t>
            </a:r>
            <a:r>
              <a:rPr sz="1250" i="1">
                <a:solidFill>
                  <a:srgbClr val="7F8C98"/>
                </a:solidFill>
                <a:latin typeface="JetBrains Mono"/>
              </a:rPr>
              <a:t>// HIT</a:t>
            </a:r>
          </a:p>
          <a:p>
            <a:pPr algn="l">
              <a:lnSpc>
                <a:spcPts val="1500"/>
              </a:lnSpc>
            </a:pPr>
            <a:r>
              <a:rPr sz="1250" i="0">
                <a:solidFill>
                  <a:srgbClr val="ECEFF1"/>
                </a:solidFill>
                <a:latin typeface="JetBrains Mono"/>
              </a:rPr>
              <a:t>     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readlike_hit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500"/>
              </a:lnSpc>
            </a:pPr>
            <a:r>
              <a:rPr sz="1250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250" i="0">
                <a:solidFill>
                  <a:srgbClr val="C792EA"/>
                </a:solidFill>
                <a:latin typeface="JetBrains Mono"/>
              </a:rPr>
              <a:t>else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50" i="0">
                <a:solidFill>
                  <a:srgbClr val="89DDFF"/>
                </a:solidFill>
                <a:latin typeface="JetBrains Mono"/>
              </a:rPr>
              <a:t>!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readlike_miss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    </a:t>
            </a:r>
            <a:r>
              <a:rPr sz="1250" i="1">
                <a:solidFill>
                  <a:srgbClr val="7F8C98"/>
                </a:solidFill>
                <a:latin typeface="JetBrains Mono"/>
              </a:rPr>
              <a:t>// MISS</a:t>
            </a:r>
          </a:p>
          <a:p>
            <a:pPr algn="l">
              <a:lnSpc>
                <a:spcPts val="1500"/>
              </a:lnSpc>
            </a:pPr>
            <a:r>
              <a:rPr sz="1250" i="0">
                <a:solidFill>
                  <a:srgbClr val="ECEFF1"/>
                </a:solidFill>
                <a:latin typeface="JetBrains Mono"/>
              </a:rPr>
              <a:t>      </a:t>
            </a:r>
            <a:r>
              <a:rPr sz="1250" i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                                </a:t>
            </a:r>
            <a:r>
              <a:rPr sz="1250" i="1">
                <a:solidFill>
                  <a:srgbClr val="7F8C98"/>
                </a:solidFill>
                <a:latin typeface="JetBrains Mono"/>
              </a:rPr>
              <a:t>// no MSHR free: try next cycle</a:t>
            </a:r>
          </a:p>
          <a:p>
            <a:pPr algn="l">
              <a:lnSpc>
                <a:spcPts val="1500"/>
              </a:lnSpc>
            </a:pPr>
          </a:p>
          <a:p>
            <a:pPr algn="l">
              <a:lnSpc>
                <a:spcPts val="1500"/>
              </a:lnSpc>
            </a:pPr>
            <a:r>
              <a:rPr sz="1250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RQ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pop_front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500"/>
              </a:lnSpc>
            </a:pPr>
            <a:r>
              <a:rPr sz="1250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reads_available_this_cycle</a:t>
            </a:r>
            <a:r>
              <a:rPr sz="1250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250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500"/>
              </a:lnSpc>
            </a:pPr>
            <a:r>
              <a:rPr sz="1250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250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500"/>
              </a:lnSpc>
            </a:pPr>
            <a:r>
              <a:rPr sz="1250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500"/>
              </a:lnSpc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595360" y="132588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get_way</a:t>
            </a:r>
            <a:r>
              <a:rPr sz="2000" b="0">
                <a:solidFill>
                  <a:srgbClr val="212121"/>
                </a:solidFill>
                <a:latin typeface="Arial"/>
              </a:rPr>
              <a:t> returns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NUM_WAY</a:t>
            </a:r>
            <a:r>
              <a:rPr sz="2000" b="0">
                <a:solidFill>
                  <a:srgbClr val="212121"/>
                </a:solidFill>
                <a:latin typeface="Arial"/>
              </a:rPr>
              <a:t> when the line is not in the set.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A miss that cannot get an MSHR stays in the RQ.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Hit: readlike_hit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7863840" cy="2907137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2560047"/>
            <a:ext cx="7717536" cy="219401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2560047"/>
            <a:ext cx="54864" cy="219401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3437653"/>
            <a:ext cx="7717536" cy="219401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3437653"/>
            <a:ext cx="54864" cy="219401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3657054"/>
            <a:ext cx="7717536" cy="219401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3657054"/>
            <a:ext cx="54864" cy="219401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7589519" cy="272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7"/>
              </a:lnSpc>
            </a:pPr>
            <a:r>
              <a:rPr sz="1439" i="0">
                <a:solidFill>
                  <a:srgbClr val="FFCB6B"/>
                </a:solidFill>
                <a:latin typeface="JetBrains Mono"/>
              </a:rPr>
              <a:t>void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82AAFF"/>
                </a:solidFill>
                <a:latin typeface="JetBrains Mono"/>
              </a:rPr>
              <a:t>CACHE::readlike_hit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PACKET</a:t>
            </a:r>
            <a:r>
              <a:rPr sz="1439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1727"/>
              </a:lnSpc>
            </a:pPr>
            <a:r>
              <a:rPr sz="1439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BLOCK</a:t>
            </a:r>
            <a:r>
              <a:rPr sz="1439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hit_block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block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89DDFF"/>
                </a:solidFill>
                <a:latin typeface="JetBrains Mono"/>
              </a:rPr>
              <a:t>*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727"/>
              </a:lnSpc>
            </a:pPr>
            <a:r>
              <a:rPr sz="1439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data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hit_block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data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727"/>
              </a:lnSpc>
            </a:pPr>
          </a:p>
          <a:p>
            <a:pPr algn="l">
              <a:lnSpc>
                <a:spcPts val="1727"/>
              </a:lnSpc>
            </a:pPr>
            <a:r>
              <a:rPr sz="1439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439" i="1">
                <a:solidFill>
                  <a:srgbClr val="7F8C98"/>
                </a:solidFill>
                <a:latin typeface="JetBrains Mono"/>
              </a:rPr>
              <a:t>// tell the replacement policy about the hit</a:t>
            </a:r>
          </a:p>
          <a:p>
            <a:pPr algn="l">
              <a:lnSpc>
                <a:spcPts val="1727"/>
              </a:lnSpc>
            </a:pPr>
            <a:r>
              <a:rPr sz="1439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impl_replacement_update_state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1">
                <a:solidFill>
                  <a:srgbClr val="7F8C98"/>
                </a:solidFill>
                <a:latin typeface="JetBrains Mono"/>
              </a:rPr>
              <a:t>/*hit*/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F78C6C"/>
                </a:solidFill>
                <a:latin typeface="JetBrains Mono"/>
              </a:rPr>
              <a:t>1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727"/>
              </a:lnSpc>
            </a:pPr>
          </a:p>
          <a:p>
            <a:pPr algn="l">
              <a:lnSpc>
                <a:spcPts val="1727"/>
              </a:lnSpc>
            </a:pPr>
            <a:r>
              <a:rPr sz="1439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sim_hit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cpu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type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439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439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 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sim_access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cpu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type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439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439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727"/>
              </a:lnSpc>
            </a:pPr>
          </a:p>
          <a:p>
            <a:pPr algn="l">
              <a:lnSpc>
                <a:spcPts val="1727"/>
              </a:lnSpc>
            </a:pPr>
            <a:r>
              <a:rPr sz="1439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439" i="0">
                <a:solidFill>
                  <a:srgbClr val="C792EA"/>
                </a:solidFill>
                <a:latin typeface="JetBrains Mono"/>
              </a:rPr>
              <a:t>for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439" i="0">
                <a:solidFill>
                  <a:srgbClr val="C792EA"/>
                </a:solidFill>
                <a:latin typeface="JetBrains Mono"/>
              </a:rPr>
              <a:t>auto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ret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to_return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439" i="1">
                <a:solidFill>
                  <a:srgbClr val="7F8C98"/>
                </a:solidFill>
                <a:latin typeface="JetBrains Mono"/>
              </a:rPr>
              <a:t>// send the response up</a:t>
            </a:r>
          </a:p>
          <a:p>
            <a:pPr algn="l">
              <a:lnSpc>
                <a:spcPts val="1727"/>
              </a:lnSpc>
            </a:pPr>
            <a:r>
              <a:rPr sz="1439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ret</a:t>
            </a:r>
            <a:r>
              <a:rPr sz="1439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439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return_data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439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439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727"/>
              </a:lnSpc>
            </a:pPr>
            <a:r>
              <a:rPr sz="1439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727"/>
              </a:lnSpc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595360" y="132588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We copy the data into the packet.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impl_replacement_update_state</a:t>
            </a:r>
            <a:r>
              <a:rPr sz="2000" b="0">
                <a:solidFill>
                  <a:srgbClr val="212121"/>
                </a:solidFill>
                <a:latin typeface="Arial"/>
              </a:rPr>
              <a:t> tells the replacement policy that this line was hit.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We count the hit.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return_data</a:t>
            </a:r>
            <a:r>
              <a:rPr sz="2000" b="0">
                <a:solidFill>
                  <a:srgbClr val="212121"/>
                </a:solidFill>
                <a:latin typeface="Arial"/>
              </a:rPr>
              <a:t> hands the packet to every cache in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to_return</a:t>
            </a:r>
            <a:r>
              <a:rPr sz="2000" b="0">
                <a:solidFill>
                  <a:srgbClr val="21212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Miss: readlike_miss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7863840" cy="3468547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1888937"/>
            <a:ext cx="7717536" cy="212948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888937"/>
            <a:ext cx="54864" cy="212948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2101885"/>
            <a:ext cx="7717536" cy="212948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2101885"/>
            <a:ext cx="54864" cy="212948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2527782"/>
            <a:ext cx="7717536" cy="212948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527782"/>
            <a:ext cx="54864" cy="212948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3379576"/>
            <a:ext cx="7717536" cy="212948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3379576"/>
            <a:ext cx="54864" cy="212948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3592525"/>
            <a:ext cx="7717536" cy="212948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" y="3592525"/>
            <a:ext cx="54864" cy="212948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" y="3805473"/>
            <a:ext cx="7717536" cy="212948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3805473"/>
            <a:ext cx="54864" cy="212948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1417320"/>
            <a:ext cx="7589519" cy="3285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6"/>
              </a:lnSpc>
            </a:pPr>
            <a:r>
              <a:rPr sz="1397" i="0">
                <a:solidFill>
                  <a:srgbClr val="FFCB6B"/>
                </a:solidFill>
                <a:latin typeface="JetBrains Mono"/>
              </a:rPr>
              <a:t>bool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82AAFF"/>
                </a:solidFill>
                <a:latin typeface="JetBrains Mono"/>
              </a:rPr>
              <a:t>CACHE::readlike_miss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PACKET</a:t>
            </a:r>
            <a:r>
              <a:rPr sz="1397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1676"/>
              </a:lnSpc>
            </a:pPr>
            <a:r>
              <a:rPr sz="1397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397" i="0">
                <a:solidFill>
                  <a:srgbClr val="C792EA"/>
                </a:solidFill>
                <a:latin typeface="JetBrains Mono"/>
              </a:rPr>
              <a:t>auto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mshr_entry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find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in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MSHR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same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address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76"/>
              </a:lnSpc>
            </a:pPr>
            <a:r>
              <a:rPr sz="1397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397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mshr_entry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89DDFF"/>
                </a:solidFill>
                <a:latin typeface="JetBrains Mono"/>
              </a:rPr>
              <a:t>!</a:t>
            </a:r>
            <a:r>
              <a:rPr sz="1397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MSHR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end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{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         </a:t>
            </a:r>
            <a:r>
              <a:rPr sz="1397" i="1">
                <a:solidFill>
                  <a:srgbClr val="7F8C98"/>
                </a:solidFill>
                <a:latin typeface="JetBrains Mono"/>
              </a:rPr>
              <a:t>// miss already in flight</a:t>
            </a:r>
          </a:p>
          <a:p>
            <a:pPr algn="l">
              <a:lnSpc>
                <a:spcPts val="1676"/>
              </a:lnSpc>
            </a:pPr>
            <a:r>
              <a:rPr sz="139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merge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to_return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into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mshr_entry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76"/>
              </a:lnSpc>
            </a:pPr>
            <a:r>
              <a:rPr sz="1397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}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C792EA"/>
                </a:solidFill>
                <a:latin typeface="JetBrains Mono"/>
              </a:rPr>
              <a:t>else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1676"/>
              </a:lnSpc>
            </a:pPr>
            <a:r>
              <a:rPr sz="139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97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MSHR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size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97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MSHR_SIZE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FFCB6B"/>
                </a:solidFill>
                <a:latin typeface="JetBrains Mono"/>
              </a:rPr>
              <a:t>false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  </a:t>
            </a:r>
            <a:r>
              <a:rPr sz="1397" i="1">
                <a:solidFill>
                  <a:srgbClr val="7F8C98"/>
                </a:solidFill>
                <a:latin typeface="JetBrains Mono"/>
              </a:rPr>
              <a:t>// MSHR full</a:t>
            </a:r>
          </a:p>
          <a:p>
            <a:pPr algn="l">
              <a:lnSpc>
                <a:spcPts val="1676"/>
              </a:lnSpc>
            </a:pPr>
            <a:r>
              <a:rPr sz="139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97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lower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level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RQ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is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full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97" i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FFCB6B"/>
                </a:solidFill>
                <a:latin typeface="JetBrains Mono"/>
              </a:rPr>
              <a:t>false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76"/>
              </a:lnSpc>
            </a:pPr>
          </a:p>
          <a:p>
            <a:pPr algn="l">
              <a:lnSpc>
                <a:spcPts val="1676"/>
              </a:lnSpc>
            </a:pPr>
            <a:r>
              <a:rPr sz="139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97" i="1">
                <a:solidFill>
                  <a:srgbClr val="7F8C98"/>
                </a:solidFill>
                <a:latin typeface="JetBrains Mono"/>
              </a:rPr>
              <a:t>// fill_level can skip the entry: then this level keeps no copy</a:t>
            </a:r>
          </a:p>
          <a:p>
            <a:pPr algn="l">
              <a:lnSpc>
                <a:spcPts val="1676"/>
              </a:lnSpc>
            </a:pPr>
            <a:r>
              <a:rPr sz="139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MSHR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insert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std</a:t>
            </a:r>
            <a:r>
              <a:rPr sz="1397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397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end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MSHR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     </a:t>
            </a:r>
            <a:r>
              <a:rPr sz="1397" i="1">
                <a:solidFill>
                  <a:srgbClr val="7F8C98"/>
                </a:solidFill>
                <a:latin typeface="JetBrains Mono"/>
              </a:rPr>
              <a:t>// new entry</a:t>
            </a:r>
          </a:p>
          <a:p>
            <a:pPr algn="l">
              <a:lnSpc>
                <a:spcPts val="1676"/>
              </a:lnSpc>
            </a:pPr>
            <a:r>
              <a:rPr sz="139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to_return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{</a:t>
            </a:r>
            <a:r>
              <a:rPr sz="1397" i="0">
                <a:solidFill>
                  <a:srgbClr val="C792EA"/>
                </a:solidFill>
                <a:latin typeface="JetBrains Mono"/>
              </a:rPr>
              <a:t>this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}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               </a:t>
            </a:r>
            <a:r>
              <a:rPr sz="1397" i="1">
                <a:solidFill>
                  <a:srgbClr val="7F8C98"/>
                </a:solidFill>
                <a:latin typeface="JetBrains Mono"/>
              </a:rPr>
              <a:t>// answer me</a:t>
            </a:r>
          </a:p>
          <a:p>
            <a:pPr algn="l">
              <a:lnSpc>
                <a:spcPts val="1676"/>
              </a:lnSpc>
            </a:pPr>
            <a:r>
              <a:rPr sz="139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lower_level</a:t>
            </a:r>
            <a:r>
              <a:rPr sz="1397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397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add_rq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97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            </a:t>
            </a:r>
            <a:r>
              <a:rPr sz="1397" i="1">
                <a:solidFill>
                  <a:srgbClr val="7F8C98"/>
                </a:solidFill>
                <a:latin typeface="JetBrains Mono"/>
              </a:rPr>
              <a:t>// send it down</a:t>
            </a:r>
          </a:p>
          <a:p>
            <a:pPr algn="l">
              <a:lnSpc>
                <a:spcPts val="1676"/>
              </a:lnSpc>
            </a:pPr>
            <a:r>
              <a:rPr sz="1397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676"/>
              </a:lnSpc>
            </a:pPr>
            <a:r>
              <a:rPr sz="1397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397" i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97" i="0">
                <a:solidFill>
                  <a:srgbClr val="FFCB6B"/>
                </a:solidFill>
                <a:latin typeface="JetBrains Mono"/>
              </a:rPr>
              <a:t>true</a:t>
            </a:r>
            <a:r>
              <a:rPr sz="1397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76"/>
              </a:lnSpc>
            </a:pPr>
            <a:r>
              <a:rPr sz="1397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676"/>
              </a:lnSpc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595360" y="132588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If the same line is already missing, we join that entry.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Otherwise we allocate an entry and send a request down.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When we return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false</a:t>
            </a:r>
            <a:r>
              <a:rPr sz="2000" b="0">
                <a:solidFill>
                  <a:srgbClr val="212121"/>
                </a:solidFill>
                <a:latin typeface="Arial"/>
              </a:rPr>
              <a:t>, the packet stays in the RQ.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Servicing the miss: handle_fill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7863840" cy="3997876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2704225"/>
            <a:ext cx="7717536" cy="206864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2704225"/>
            <a:ext cx="54864" cy="206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2911089"/>
            <a:ext cx="7717536" cy="206864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2911089"/>
            <a:ext cx="54864" cy="206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3117954"/>
            <a:ext cx="7717536" cy="206864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3117954"/>
            <a:ext cx="54864" cy="206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3945411"/>
            <a:ext cx="7717536" cy="206864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3945411"/>
            <a:ext cx="54864" cy="206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4152275"/>
            <a:ext cx="7717536" cy="206864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" y="4152275"/>
            <a:ext cx="54864" cy="206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417320"/>
            <a:ext cx="7589519" cy="3814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8"/>
              </a:lnSpc>
            </a:pPr>
            <a:r>
              <a:rPr sz="1357" i="0">
                <a:solidFill>
                  <a:srgbClr val="FFCB6B"/>
                </a:solidFill>
                <a:latin typeface="JetBrains Mono"/>
              </a:rPr>
              <a:t>void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82AAFF"/>
                </a:solidFill>
                <a:latin typeface="JetBrains Mono"/>
              </a:rPr>
              <a:t>CACHE::handle_fill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1628"/>
              </a:lnSpc>
            </a:pPr>
            <a:r>
              <a:rPr sz="1357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357" i="0">
                <a:solidFill>
                  <a:srgbClr val="C792EA"/>
                </a:solidFill>
                <a:latin typeface="JetBrains Mono"/>
              </a:rPr>
              <a:t>while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writes_available_this_cycle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F78C6C"/>
                </a:solidFill>
                <a:latin typeface="JetBrains Mono"/>
              </a:rPr>
              <a:t>0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{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57" i="1">
                <a:solidFill>
                  <a:srgbClr val="7F8C98"/>
                </a:solidFill>
                <a:latin typeface="JetBrains Mono"/>
              </a:rPr>
              <a:t>// bandwidth: max_write</a:t>
            </a:r>
          </a:p>
          <a:p>
            <a:pPr algn="l">
              <a:lnSpc>
                <a:spcPts val="1628"/>
              </a:lnSpc>
            </a:pPr>
            <a:r>
              <a:rPr sz="135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57" i="0">
                <a:solidFill>
                  <a:srgbClr val="C792EA"/>
                </a:solidFill>
                <a:latin typeface="JetBrains Mono"/>
              </a:rPr>
              <a:t>auto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fill_mshr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MSHR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begin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28"/>
              </a:lnSpc>
            </a:pPr>
            <a:r>
              <a:rPr sz="135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57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fill_mshr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C792EA"/>
                </a:solidFill>
                <a:latin typeface="JetBrains Mono"/>
              </a:rPr>
              <a:t>not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ready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          </a:t>
            </a:r>
            <a:r>
              <a:rPr sz="1357" i="1">
                <a:solidFill>
                  <a:srgbClr val="7F8C98"/>
                </a:solidFill>
                <a:latin typeface="JetBrains Mono"/>
              </a:rPr>
              <a:t>// data not back yet</a:t>
            </a:r>
          </a:p>
          <a:p>
            <a:pPr algn="l">
              <a:lnSpc>
                <a:spcPts val="1628"/>
              </a:lnSpc>
            </a:pPr>
          </a:p>
          <a:p>
            <a:pPr algn="l">
              <a:lnSpc>
                <a:spcPts val="1628"/>
              </a:lnSpc>
            </a:pPr>
            <a:r>
              <a:rPr sz="135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57" i="0">
                <a:solidFill>
                  <a:srgbClr val="FFCB6B"/>
                </a:solidFill>
                <a:latin typeface="JetBrains Mono"/>
              </a:rPr>
              <a:t>uint32_t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get_set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fill_mshr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address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28"/>
              </a:lnSpc>
            </a:pPr>
            <a:r>
              <a:rPr sz="135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first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invalid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in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the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28"/>
              </a:lnSpc>
            </a:pPr>
            <a:r>
              <a:rPr sz="135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57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                       </a:t>
            </a:r>
            <a:r>
              <a:rPr sz="1357" i="1">
                <a:solidFill>
                  <a:srgbClr val="7F8C98"/>
                </a:solidFill>
                <a:latin typeface="JetBrains Mono"/>
              </a:rPr>
              <a:t>// set is full</a:t>
            </a:r>
          </a:p>
          <a:p>
            <a:pPr algn="l">
              <a:lnSpc>
                <a:spcPts val="1628"/>
              </a:lnSpc>
            </a:pPr>
            <a:r>
              <a:rPr sz="1357" i="0">
                <a:solidFill>
                  <a:srgbClr val="ECEFF1"/>
                </a:solidFill>
                <a:latin typeface="JetBrains Mono"/>
              </a:rPr>
              <a:t>     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impl_replacement_find_victim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28"/>
              </a:lnSpc>
            </a:pPr>
          </a:p>
          <a:p>
            <a:pPr algn="l">
              <a:lnSpc>
                <a:spcPts val="1628"/>
              </a:lnSpc>
            </a:pPr>
            <a:r>
              <a:rPr sz="135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57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!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filllike_miss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*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fill_mshr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28"/>
              </a:lnSpc>
            </a:pPr>
          </a:p>
          <a:p>
            <a:pPr algn="l">
              <a:lnSpc>
                <a:spcPts val="1628"/>
              </a:lnSpc>
            </a:pPr>
            <a:r>
              <a:rPr sz="135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57" i="0">
                <a:solidFill>
                  <a:srgbClr val="C792EA"/>
                </a:solidFill>
                <a:latin typeface="JetBrains Mono"/>
              </a:rPr>
              <a:t>for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57" i="0">
                <a:solidFill>
                  <a:srgbClr val="C792EA"/>
                </a:solidFill>
                <a:latin typeface="JetBrains Mono"/>
              </a:rPr>
              <a:t>auto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ret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fill_mshr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to_return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      </a:t>
            </a:r>
            <a:r>
              <a:rPr sz="1357" i="1">
                <a:solidFill>
                  <a:srgbClr val="7F8C98"/>
                </a:solidFill>
                <a:latin typeface="JetBrains Mono"/>
              </a:rPr>
              <a:t>// send the response up</a:t>
            </a:r>
          </a:p>
          <a:p>
            <a:pPr algn="l">
              <a:lnSpc>
                <a:spcPts val="1628"/>
              </a:lnSpc>
            </a:pPr>
            <a:r>
              <a:rPr sz="1357" i="0">
                <a:solidFill>
                  <a:srgbClr val="ECEFF1"/>
                </a:solidFill>
                <a:latin typeface="JetBrains Mono"/>
              </a:rPr>
              <a:t>     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ret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return_data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*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fill_mshr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28"/>
              </a:lnSpc>
            </a:pPr>
            <a:r>
              <a:rPr sz="135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MSHR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erase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fill_mshr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28"/>
              </a:lnSpc>
            </a:pPr>
            <a:r>
              <a:rPr sz="1357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writes_available_this_cycle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357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28"/>
              </a:lnSpc>
            </a:pPr>
            <a:r>
              <a:rPr sz="1357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357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628"/>
              </a:lnSpc>
            </a:pPr>
            <a:r>
              <a:rPr sz="1357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628"/>
              </a:lnSpc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95360" y="132588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We use an empty way first.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Only a full set asks the policy for a victim.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Then every waiting cache gets the data.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Filling the line: filllike_miss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7863840" cy="3390376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2012932"/>
            <a:ext cx="7717536" cy="183297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2012932"/>
            <a:ext cx="54864" cy="183297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2196229"/>
            <a:ext cx="7717536" cy="183297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2196229"/>
            <a:ext cx="54864" cy="183297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2379527"/>
            <a:ext cx="7717536" cy="183297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379527"/>
            <a:ext cx="54864" cy="183297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3296014"/>
            <a:ext cx="7717536" cy="183297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3296014"/>
            <a:ext cx="54864" cy="183297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3845906"/>
            <a:ext cx="7717536" cy="183297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" y="3845906"/>
            <a:ext cx="54864" cy="183297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417320"/>
            <a:ext cx="7589519" cy="3207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43"/>
              </a:lnSpc>
            </a:pPr>
            <a:r>
              <a:rPr sz="1202" i="0">
                <a:solidFill>
                  <a:srgbClr val="FFCB6B"/>
                </a:solidFill>
                <a:latin typeface="JetBrains Mono"/>
              </a:rPr>
              <a:t>bool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82AAFF"/>
                </a:solidFill>
                <a:latin typeface="JetBrains Mono"/>
              </a:rPr>
              <a:t>CACHE::filllike_miss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PACKET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1443"/>
              </a:lnSpc>
            </a:pPr>
            <a:r>
              <a:rPr sz="1202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BLOCK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fill_block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block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*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443"/>
              </a:lnSpc>
            </a:pPr>
          </a:p>
          <a:p>
            <a:pPr algn="l">
              <a:lnSpc>
                <a:spcPts val="1443"/>
              </a:lnSpc>
            </a:pPr>
            <a:r>
              <a:rPr sz="1202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202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fill_block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dirty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{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                 </a:t>
            </a:r>
            <a:r>
              <a:rPr sz="1202" i="1">
                <a:solidFill>
                  <a:srgbClr val="7F8C98"/>
                </a:solidFill>
                <a:latin typeface="JetBrains Mono"/>
              </a:rPr>
              <a:t>// victim was modified</a:t>
            </a:r>
          </a:p>
          <a:p>
            <a:pPr algn="l">
              <a:lnSpc>
                <a:spcPts val="1443"/>
              </a:lnSpc>
            </a:pPr>
            <a:r>
              <a:rPr sz="1202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PACKET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writeback_packet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type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WRITEBACK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443"/>
              </a:lnSpc>
            </a:pPr>
            <a:r>
              <a:rPr sz="1202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202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lower_level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add_wq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writeback_packet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F78C6C"/>
                </a:solidFill>
                <a:latin typeface="JetBrains Mono"/>
              </a:rPr>
              <a:t>-2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)</a:t>
            </a:r>
          </a:p>
          <a:p>
            <a:pPr algn="l">
              <a:lnSpc>
                <a:spcPts val="1443"/>
              </a:lnSpc>
            </a:pPr>
            <a:r>
              <a:rPr sz="1202" i="0">
                <a:solidFill>
                  <a:srgbClr val="ECEFF1"/>
                </a:solidFill>
                <a:latin typeface="JetBrains Mono"/>
              </a:rPr>
              <a:t>      </a:t>
            </a:r>
            <a:r>
              <a:rPr sz="1202" i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FFCB6B"/>
                </a:solidFill>
                <a:latin typeface="JetBrains Mono"/>
              </a:rPr>
              <a:t>false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                       </a:t>
            </a:r>
            <a:r>
              <a:rPr sz="1202" i="1">
                <a:solidFill>
                  <a:srgbClr val="7F8C98"/>
                </a:solidFill>
                <a:latin typeface="JetBrains Mono"/>
              </a:rPr>
              <a:t>// lower WQ full</a:t>
            </a:r>
          </a:p>
          <a:p>
            <a:pPr algn="l">
              <a:lnSpc>
                <a:spcPts val="1443"/>
              </a:lnSpc>
            </a:pPr>
            <a:r>
              <a:rPr sz="1202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443"/>
              </a:lnSpc>
            </a:pPr>
          </a:p>
          <a:p>
            <a:pPr algn="l">
              <a:lnSpc>
                <a:spcPts val="1443"/>
              </a:lnSpc>
            </a:pPr>
            <a:r>
              <a:rPr sz="1202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fill_block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valid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FFCB6B"/>
                </a:solidFill>
                <a:latin typeface="JetBrains Mono"/>
              </a:rPr>
              <a:t>true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443"/>
              </a:lnSpc>
            </a:pPr>
            <a:r>
              <a:rPr sz="1202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fill_block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dirty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type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WRITEBACK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|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|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type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RFO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to_return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empty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443"/>
              </a:lnSpc>
            </a:pPr>
            <a:r>
              <a:rPr sz="1202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fill_block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address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address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 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1">
                <a:solidFill>
                  <a:srgbClr val="7F8C98"/>
                </a:solidFill>
                <a:latin typeface="JetBrains Mono"/>
              </a:rPr>
              <a:t>// copy the rest</a:t>
            </a:r>
          </a:p>
          <a:p>
            <a:pPr algn="l">
              <a:lnSpc>
                <a:spcPts val="1443"/>
              </a:lnSpc>
            </a:pPr>
          </a:p>
          <a:p>
            <a:pPr algn="l">
              <a:lnSpc>
                <a:spcPts val="1443"/>
              </a:lnSpc>
            </a:pPr>
            <a:r>
              <a:rPr sz="1202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impl_replacement_update_state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1">
                <a:solidFill>
                  <a:srgbClr val="7F8C98"/>
                </a:solidFill>
                <a:latin typeface="JetBrains Mono"/>
              </a:rPr>
              <a:t>/*hit*/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F78C6C"/>
                </a:solidFill>
                <a:latin typeface="JetBrains Mono"/>
              </a:rPr>
              <a:t>0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443"/>
              </a:lnSpc>
            </a:pPr>
            <a:r>
              <a:rPr sz="1202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sim_miss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cpu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type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  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sim_access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cpu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type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202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443"/>
              </a:lnSpc>
            </a:pPr>
            <a:r>
              <a:rPr sz="1202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202" i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202" i="0">
                <a:solidFill>
                  <a:srgbClr val="FFCB6B"/>
                </a:solidFill>
                <a:latin typeface="JetBrains Mono"/>
              </a:rPr>
              <a:t>true</a:t>
            </a:r>
            <a:r>
              <a:rPr sz="1202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443"/>
              </a:lnSpc>
            </a:pPr>
            <a:r>
              <a:rPr sz="1202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443"/>
              </a:lnSpc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95360" y="132588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A dirty victim goes down as a writeback first.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new line is dirty if it carries a store.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We tell the policy about the fill.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A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212121"/>
                </a:solidFill>
                <a:latin typeface="Arial"/>
              </a:rPr>
              <a:t>It's inlab (1) time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Task 1: count events in the L2C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Count the read hits in each way of the L2C.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Optional: count the misses in each set and print the largest count.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A read is a request that comes through the RQ: LOAD and RFO. TRANSLATION reads also count, but we do not teach them.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Edit the copies in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task1/</a:t>
            </a:r>
            <a:r>
              <a:rPr sz="2200" b="0">
                <a:solidFill>
                  <a:srgbClr val="212121"/>
                </a:solidFill>
                <a:latin typeface="Arial"/>
              </a:rPr>
              <a:t>: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cache.h</a:t>
            </a:r>
            <a:r>
              <a:rPr sz="2200" b="0">
                <a:solidFill>
                  <a:srgbClr val="212121"/>
                </a:solidFill>
                <a:latin typeface="Arial"/>
              </a:rPr>
              <a:t>,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cache.cc</a:t>
            </a:r>
            <a:r>
              <a:rPr sz="2200" b="0">
                <a:solidFill>
                  <a:srgbClr val="212121"/>
                </a:solidFill>
                <a:latin typeface="Arial"/>
              </a:rPr>
              <a:t> and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main.cc</a:t>
            </a:r>
            <a:r>
              <a:rPr sz="2200" b="0">
                <a:solidFill>
                  <a:srgbClr val="212121"/>
                </a:solidFill>
                <a:latin typeface="Arial"/>
              </a:rPr>
              <a:t>. Then run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make task1</a:t>
            </a:r>
            <a:r>
              <a:rPr sz="2200" b="0">
                <a:solidFill>
                  <a:srgbClr val="212121"/>
                </a:solidFill>
                <a:latin typeface="Arial"/>
              </a:rPr>
              <a:t> and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make check-task1</a:t>
            </a:r>
            <a:r>
              <a:rPr sz="2200" b="0">
                <a:solidFill>
                  <a:srgbClr val="212121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42154"/>
            <a:ext cx="11247120" cy="4224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Where is the cache's state declared?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64556"/>
            <a:ext cx="11247120" cy="4224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Where is a read hit detected? Where is a miss counted?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86958"/>
            <a:ext cx="11247120" cy="4224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Where are the statistics printed?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You are replaceable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Each policy is a folder: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replacement/&lt;name&gt;/&lt;name&gt;.cc</a:t>
            </a:r>
            <a:r>
              <a:rPr sz="24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The file defines four functions of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CACHE</a:t>
            </a:r>
            <a:r>
              <a:rPr sz="2400" b="0">
                <a:solidFill>
                  <a:srgbClr val="212121"/>
                </a:solidFill>
                <a:latin typeface="Arial"/>
              </a:rPr>
              <a:t>:</a:t>
            </a:r>
          </a:p>
          <a:p>
            <a:pPr lvl="1">
              <a:spcAft>
                <a:spcPts val="800"/>
              </a:spcAft>
            </a:pPr>
            <a:r>
              <a:rPr sz="2100" b="0">
                <a:solidFill>
                  <a:srgbClr val="595959"/>
                </a:solidFill>
                <a:latin typeface="Arial"/>
              </a:rPr>
              <a:t>– </a:t>
            </a:r>
            <a:r>
              <a:rPr sz="2100" b="0">
                <a:solidFill>
                  <a:srgbClr val="1E8E3E"/>
                </a:solidFill>
                <a:latin typeface="JetBrains Mono"/>
              </a:rPr>
              <a:t>initialize_replacement()</a:t>
            </a:r>
            <a:r>
              <a:rPr sz="2100" b="0">
                <a:solidFill>
                  <a:srgbClr val="595959"/>
                </a:solidFill>
                <a:latin typeface="Arial"/>
              </a:rPr>
              <a:t>: once, at the start</a:t>
            </a:r>
          </a:p>
          <a:p>
            <a:pPr lvl="1">
              <a:spcAft>
                <a:spcPts val="800"/>
              </a:spcAft>
            </a:pPr>
            <a:r>
              <a:rPr sz="2100" b="0">
                <a:solidFill>
                  <a:srgbClr val="595959"/>
                </a:solidFill>
                <a:latin typeface="Arial"/>
              </a:rPr>
              <a:t>– </a:t>
            </a:r>
            <a:r>
              <a:rPr sz="2100" b="0">
                <a:solidFill>
                  <a:srgbClr val="1E8E3E"/>
                </a:solidFill>
                <a:latin typeface="JetBrains Mono"/>
              </a:rPr>
              <a:t>find_victim(...)</a:t>
            </a:r>
            <a:r>
              <a:rPr sz="2100" b="0">
                <a:solidFill>
                  <a:srgbClr val="595959"/>
                </a:solidFill>
                <a:latin typeface="Arial"/>
              </a:rPr>
              <a:t>: returns the way to evict</a:t>
            </a:r>
          </a:p>
          <a:p>
            <a:pPr lvl="1">
              <a:spcAft>
                <a:spcPts val="800"/>
              </a:spcAft>
            </a:pPr>
            <a:r>
              <a:rPr sz="2100" b="0">
                <a:solidFill>
                  <a:srgbClr val="595959"/>
                </a:solidFill>
                <a:latin typeface="Arial"/>
              </a:rPr>
              <a:t>– </a:t>
            </a:r>
            <a:r>
              <a:rPr sz="2100" b="0">
                <a:solidFill>
                  <a:srgbClr val="1E8E3E"/>
                </a:solidFill>
                <a:latin typeface="JetBrains Mono"/>
              </a:rPr>
              <a:t>update_replacement_state(...)</a:t>
            </a:r>
            <a:r>
              <a:rPr sz="2100" b="0">
                <a:solidFill>
                  <a:srgbClr val="595959"/>
                </a:solidFill>
                <a:latin typeface="Arial"/>
              </a:rPr>
              <a:t>: runs on every hit and every fill</a:t>
            </a:r>
          </a:p>
          <a:p>
            <a:pPr lvl="1">
              <a:spcAft>
                <a:spcPts val="800"/>
              </a:spcAft>
            </a:pPr>
            <a:r>
              <a:rPr sz="2100" b="0">
                <a:solidFill>
                  <a:srgbClr val="595959"/>
                </a:solidFill>
                <a:latin typeface="Arial"/>
              </a:rPr>
              <a:t>– </a:t>
            </a:r>
            <a:r>
              <a:rPr sz="2100" b="0">
                <a:solidFill>
                  <a:srgbClr val="1E8E3E"/>
                </a:solidFill>
                <a:latin typeface="JetBrains Mono"/>
              </a:rPr>
              <a:t>replacement_final_stats()</a:t>
            </a:r>
            <a:r>
              <a:rPr sz="2100" b="0">
                <a:solidFill>
                  <a:srgbClr val="595959"/>
                </a:solidFill>
                <a:latin typeface="Arial"/>
              </a:rPr>
              <a:t>: once, at the end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Set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"replacement": "&lt;name&gt;"</a:t>
            </a:r>
            <a:r>
              <a:rPr sz="2400" b="0">
                <a:solidFill>
                  <a:srgbClr val="212121"/>
                </a:solidFill>
                <a:latin typeface="Arial"/>
              </a:rPr>
              <a:t> in the JSON and rebuild.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Where the policy is called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readlike_hit</a:t>
            </a:r>
            <a:r>
              <a:rPr sz="2400" b="0">
                <a:solidFill>
                  <a:srgbClr val="212121"/>
                </a:solidFill>
                <a:latin typeface="Arial"/>
              </a:rPr>
              <a:t> →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update_replacement_state(hit = 1)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handle_fill</a:t>
            </a:r>
            <a:r>
              <a:rPr sz="2400" b="0">
                <a:solidFill>
                  <a:srgbClr val="212121"/>
                </a:solidFill>
                <a:latin typeface="Arial"/>
              </a:rPr>
              <a:t> →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find_victim</a:t>
            </a:r>
            <a:r>
              <a:rPr sz="2400" b="0">
                <a:solidFill>
                  <a:srgbClr val="212121"/>
                </a:solidFill>
                <a:latin typeface="Arial"/>
              </a:rPr>
              <a:t>, only if the set is full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filllike_miss</a:t>
            </a:r>
            <a:r>
              <a:rPr sz="2400" b="0">
                <a:solidFill>
                  <a:srgbClr val="212121"/>
                </a:solidFill>
                <a:latin typeface="Arial"/>
              </a:rPr>
              <a:t> →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update_replacement_state(hit = 0)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Stores and writebacks call them in the same way.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Prefetchers also call them. We switch prefetching off in this lab.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A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212121"/>
                </a:solidFill>
                <a:latin typeface="Arial"/>
              </a:rPr>
              <a:t>It's inlab (2) time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Task 2: from an idea to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This task shows how to turn an existing idea into code.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The idea: LRU keeps the lines of a set in order of last use.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A hit or a fill moves a line to the front (most recent).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Eviction takes the line at the back (least recent).</a:t>
            </a:r>
          </a:p>
        </p:txBody>
      </p:sp>
      <p:pic>
        <p:nvPicPr>
          <p:cNvPr id="5" name="Picture 4" descr="L32-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371600"/>
            <a:ext cx="6035040" cy="3393939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Idea → code: the order of a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7863840" cy="1323631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1463039"/>
            <a:ext cx="7717536" cy="209862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63039"/>
            <a:ext cx="54864" cy="20986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2092626"/>
            <a:ext cx="7717536" cy="209862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2092626"/>
            <a:ext cx="54864" cy="20986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7589519" cy="114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2"/>
              </a:lnSpc>
            </a:pPr>
            <a:r>
              <a:rPr sz="1377" i="0">
                <a:solidFill>
                  <a:srgbClr val="ECEFF1"/>
                </a:solidFill>
                <a:latin typeface="JetBrains Mono"/>
              </a:rPr>
              <a:t>std</a:t>
            </a:r>
            <a:r>
              <a:rPr sz="1377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377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map</a:t>
            </a:r>
            <a:r>
              <a:rPr sz="1377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CACHE</a:t>
            </a:r>
            <a:r>
              <a:rPr sz="1377" i="0">
                <a:solidFill>
                  <a:srgbClr val="89DDFF"/>
                </a:solidFill>
                <a:latin typeface="JetBrains Mono"/>
              </a:rPr>
              <a:t>*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std</a:t>
            </a:r>
            <a:r>
              <a:rPr sz="1377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377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vector</a:t>
            </a:r>
            <a:r>
              <a:rPr sz="1377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377" i="0">
                <a:solidFill>
                  <a:srgbClr val="FFCB6B"/>
                </a:solidFill>
                <a:latin typeface="JetBrains Mono"/>
              </a:rPr>
              <a:t>uint32_t</a:t>
            </a:r>
            <a:r>
              <a:rPr sz="1377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377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lruBits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377" i="1">
                <a:solidFill>
                  <a:srgbClr val="7F8C98"/>
                </a:solidFill>
                <a:latin typeface="JetBrains Mono"/>
              </a:rPr>
              <a:t>// one age per line</a:t>
            </a:r>
          </a:p>
          <a:p>
            <a:pPr algn="l">
              <a:lnSpc>
                <a:spcPts val="1652"/>
              </a:lnSpc>
            </a:pPr>
          </a:p>
          <a:p>
            <a:pPr algn="l">
              <a:lnSpc>
                <a:spcPts val="1652"/>
              </a:lnSpc>
            </a:pPr>
            <a:r>
              <a:rPr sz="1377" i="0">
                <a:solidFill>
                  <a:srgbClr val="FFCB6B"/>
                </a:solidFill>
                <a:latin typeface="JetBrains Mono"/>
              </a:rPr>
              <a:t>void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77" i="0">
                <a:solidFill>
                  <a:srgbClr val="82AAFF"/>
                </a:solidFill>
                <a:latin typeface="JetBrains Mono"/>
              </a:rPr>
              <a:t>CACHE::initialize_replacement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1652"/>
              </a:lnSpc>
            </a:pPr>
            <a:r>
              <a:rPr sz="1377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lruBits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377" i="0">
                <a:solidFill>
                  <a:srgbClr val="C792EA"/>
                </a:solidFill>
                <a:latin typeface="JetBrains Mono"/>
              </a:rPr>
              <a:t>this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77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std</a:t>
            </a:r>
            <a:r>
              <a:rPr sz="1377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377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vector</a:t>
            </a:r>
            <a:r>
              <a:rPr sz="1377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377" i="0">
                <a:solidFill>
                  <a:srgbClr val="FFCB6B"/>
                </a:solidFill>
                <a:latin typeface="JetBrains Mono"/>
              </a:rPr>
              <a:t>uint32_t</a:t>
            </a:r>
            <a:r>
              <a:rPr sz="1377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NUM_SET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77" i="0">
                <a:solidFill>
                  <a:srgbClr val="89DDFF"/>
                </a:solidFill>
                <a:latin typeface="JetBrains Mono"/>
              </a:rPr>
              <a:t>*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77" i="0">
                <a:solidFill>
                  <a:srgbClr val="F78C6C"/>
                </a:solidFill>
                <a:latin typeface="JetBrains Mono"/>
              </a:rPr>
              <a:t>0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77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52"/>
              </a:lnSpc>
            </a:pPr>
            <a:r>
              <a:rPr sz="1377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652"/>
              </a:lnSpc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595360" y="132588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We store the order as an </a:t>
            </a:r>
            <a:r>
              <a:rPr sz="2000" b="1">
                <a:solidFill>
                  <a:srgbClr val="212121"/>
                </a:solidFill>
                <a:latin typeface="Arial"/>
              </a:rPr>
              <a:t>age</a:t>
            </a:r>
            <a:r>
              <a:rPr sz="2000" b="0">
                <a:solidFill>
                  <a:srgbClr val="212121"/>
                </a:solidFill>
                <a:latin typeface="Arial"/>
              </a:rPr>
              <a:t> for every line.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Age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NUM_WAY - 1</a:t>
            </a:r>
            <a:r>
              <a:rPr sz="2000" b="0">
                <a:solidFill>
                  <a:srgbClr val="212121"/>
                </a:solidFill>
                <a:latin typeface="Arial"/>
              </a:rPr>
              <a:t> is the most recent line; age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0</a:t>
            </a:r>
            <a:r>
              <a:rPr sz="2000" b="0">
                <a:solidFill>
                  <a:srgbClr val="212121"/>
                </a:solidFill>
                <a:latin typeface="Arial"/>
              </a:rPr>
              <a:t> is the least recent.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Each cache that uses the policy gets its own vector.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Idea → code: eviction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7863840" cy="1405608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1915555"/>
            <a:ext cx="7717536" cy="226257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915555"/>
            <a:ext cx="54864" cy="226257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2141813"/>
            <a:ext cx="7717536" cy="226257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2141813"/>
            <a:ext cx="54864" cy="226257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7589519" cy="122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81"/>
              </a:lnSpc>
            </a:pPr>
            <a:r>
              <a:rPr sz="1484" i="0">
                <a:solidFill>
                  <a:srgbClr val="FFCB6B"/>
                </a:solidFill>
                <a:latin typeface="JetBrains Mono"/>
              </a:rPr>
              <a:t>uint32_t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82AAFF"/>
                </a:solidFill>
                <a:latin typeface="JetBrains Mono"/>
              </a:rPr>
              <a:t>CACHE::find_victim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FFCB6B"/>
                </a:solidFill>
                <a:latin typeface="JetBrains Mono"/>
              </a:rPr>
              <a:t>uint32_t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1781"/>
              </a:lnSpc>
            </a:pPr>
            <a:r>
              <a:rPr sz="1484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484" i="0">
                <a:solidFill>
                  <a:srgbClr val="C792EA"/>
                </a:solidFill>
                <a:latin typeface="JetBrains Mono"/>
              </a:rPr>
              <a:t>for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484" i="0">
                <a:solidFill>
                  <a:srgbClr val="FFCB6B"/>
                </a:solidFill>
                <a:latin typeface="JetBrains Mono"/>
              </a:rPr>
              <a:t>uint32_t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i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F78C6C"/>
                </a:solidFill>
                <a:latin typeface="JetBrains Mono"/>
              </a:rPr>
              <a:t>0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i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i</a:t>
            </a:r>
            <a:r>
              <a:rPr sz="1484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484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)</a:t>
            </a:r>
          </a:p>
          <a:p>
            <a:pPr algn="l">
              <a:lnSpc>
                <a:spcPts val="1781"/>
              </a:lnSpc>
            </a:pPr>
            <a:r>
              <a:rPr sz="1484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484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lruBits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484" i="0">
                <a:solidFill>
                  <a:srgbClr val="C792EA"/>
                </a:solidFill>
                <a:latin typeface="JetBrains Mono"/>
              </a:rPr>
              <a:t>this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89DDFF"/>
                </a:solidFill>
                <a:latin typeface="JetBrains Mono"/>
              </a:rPr>
              <a:t>*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i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484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F78C6C"/>
                </a:solidFill>
                <a:latin typeface="JetBrains Mono"/>
              </a:rPr>
              <a:t>0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  </a:t>
            </a:r>
            <a:r>
              <a:rPr sz="1484" i="1">
                <a:solidFill>
                  <a:srgbClr val="7F8C98"/>
                </a:solidFill>
                <a:latin typeface="JetBrains Mono"/>
              </a:rPr>
              <a:t>// least recent</a:t>
            </a:r>
          </a:p>
          <a:p>
            <a:pPr algn="l">
              <a:lnSpc>
                <a:spcPts val="1781"/>
              </a:lnSpc>
            </a:pPr>
            <a:r>
              <a:rPr sz="1484" i="0">
                <a:solidFill>
                  <a:srgbClr val="ECEFF1"/>
                </a:solidFill>
                <a:latin typeface="JetBrains Mono"/>
              </a:rPr>
              <a:t>      </a:t>
            </a:r>
            <a:r>
              <a:rPr sz="1484" i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i</a:t>
            </a:r>
            <a:r>
              <a:rPr sz="1484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781"/>
              </a:lnSpc>
            </a:pPr>
            <a:r>
              <a:rPr sz="1484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781"/>
              </a:lnSpc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595360" y="132588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idea says: evict the line at the back.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In code, we return the way whose age is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0</a:t>
            </a:r>
            <a:r>
              <a:rPr sz="2000" b="0">
                <a:solidFill>
                  <a:srgbClr val="21212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Idea → code: insertion and promotion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7863840" cy="2313826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2074892"/>
            <a:ext cx="7717536" cy="20395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2074892"/>
            <a:ext cx="54864" cy="20395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2278842"/>
            <a:ext cx="7717536" cy="20395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2278842"/>
            <a:ext cx="54864" cy="20395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2482793"/>
            <a:ext cx="7717536" cy="20395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2482793"/>
            <a:ext cx="54864" cy="20395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2686744"/>
            <a:ext cx="7717536" cy="20395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2686744"/>
            <a:ext cx="54864" cy="20395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3094645"/>
            <a:ext cx="7717536" cy="20395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" y="3094645"/>
            <a:ext cx="54864" cy="20395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417320"/>
            <a:ext cx="7589519" cy="2130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5"/>
              </a:lnSpc>
            </a:pPr>
            <a:r>
              <a:rPr sz="1338" i="0">
                <a:solidFill>
                  <a:srgbClr val="FFCB6B"/>
                </a:solidFill>
                <a:latin typeface="JetBrains Mono"/>
              </a:rPr>
              <a:t>void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2AAFF"/>
                </a:solidFill>
                <a:latin typeface="JetBrains Mono"/>
              </a:rPr>
              <a:t>CACHE::update_replacement_state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type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hit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1605"/>
              </a:lnSpc>
            </a:pPr>
            <a:r>
              <a:rPr sz="1338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338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hit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type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WRITEBACK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        </a:t>
            </a:r>
            <a:r>
              <a:rPr sz="1338" i="1">
                <a:solidFill>
                  <a:srgbClr val="7F8C98"/>
                </a:solidFill>
                <a:latin typeface="JetBrains Mono"/>
              </a:rPr>
              <a:t>// not a real use</a:t>
            </a:r>
          </a:p>
          <a:p>
            <a:pPr algn="l">
              <a:lnSpc>
                <a:spcPts val="1605"/>
              </a:lnSpc>
            </a:pPr>
          </a:p>
          <a:p>
            <a:pPr algn="l">
              <a:lnSpc>
                <a:spcPts val="1605"/>
              </a:lnSpc>
            </a:pPr>
            <a:r>
              <a:rPr sz="1338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338" i="0">
                <a:solidFill>
                  <a:srgbClr val="FFCB6B"/>
                </a:solidFill>
                <a:latin typeface="JetBrains Mono"/>
              </a:rPr>
              <a:t>uint32_t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currVal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lruBits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338" i="0">
                <a:solidFill>
                  <a:srgbClr val="C792EA"/>
                </a:solidFill>
                <a:latin typeface="JetBrains Mono"/>
              </a:rPr>
              <a:t>this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*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05"/>
              </a:lnSpc>
            </a:pPr>
            <a:r>
              <a:rPr sz="1338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338" i="0">
                <a:solidFill>
                  <a:srgbClr val="C792EA"/>
                </a:solidFill>
                <a:latin typeface="JetBrains Mono"/>
              </a:rPr>
              <a:t>for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38" i="0">
                <a:solidFill>
                  <a:srgbClr val="FFCB6B"/>
                </a:solidFill>
                <a:latin typeface="JetBrains Mono"/>
              </a:rPr>
              <a:t>uint32_t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i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F78C6C"/>
                </a:solidFill>
                <a:latin typeface="JetBrains Mono"/>
              </a:rPr>
              <a:t>0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i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i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       </a:t>
            </a:r>
            <a:r>
              <a:rPr sz="1338" i="1">
                <a:solidFill>
                  <a:srgbClr val="7F8C98"/>
                </a:solidFill>
                <a:latin typeface="JetBrains Mono"/>
              </a:rPr>
              <a:t>// newer lines age by 1</a:t>
            </a:r>
          </a:p>
          <a:p>
            <a:pPr algn="l">
              <a:lnSpc>
                <a:spcPts val="1605"/>
              </a:lnSpc>
            </a:pPr>
            <a:r>
              <a:rPr sz="1338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38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lruBits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338" i="0">
                <a:solidFill>
                  <a:srgbClr val="C792EA"/>
                </a:solidFill>
                <a:latin typeface="JetBrains Mono"/>
              </a:rPr>
              <a:t>this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*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i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currVal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)</a:t>
            </a:r>
          </a:p>
          <a:p>
            <a:pPr algn="l">
              <a:lnSpc>
                <a:spcPts val="1605"/>
              </a:lnSpc>
            </a:pPr>
            <a:r>
              <a:rPr sz="1338" i="0">
                <a:solidFill>
                  <a:srgbClr val="ECEFF1"/>
                </a:solidFill>
                <a:latin typeface="JetBrains Mono"/>
              </a:rPr>
              <a:t>     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lruBits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338" i="0">
                <a:solidFill>
                  <a:srgbClr val="C792EA"/>
                </a:solidFill>
                <a:latin typeface="JetBrains Mono"/>
              </a:rPr>
              <a:t>this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*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i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05"/>
              </a:lnSpc>
            </a:pPr>
          </a:p>
          <a:p>
            <a:pPr algn="l">
              <a:lnSpc>
                <a:spcPts val="1605"/>
              </a:lnSpc>
            </a:pPr>
            <a:r>
              <a:rPr sz="1338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lruBits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338" i="0">
                <a:solidFill>
                  <a:srgbClr val="C792EA"/>
                </a:solidFill>
                <a:latin typeface="JetBrains Mono"/>
              </a:rPr>
              <a:t>this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*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38" i="0">
                <a:solidFill>
                  <a:srgbClr val="F78C6C"/>
                </a:solidFill>
                <a:latin typeface="JetBrains Mono"/>
              </a:rPr>
              <a:t>1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338" i="0">
                <a:solidFill>
                  <a:srgbClr val="ECEFF1"/>
                </a:solidFill>
                <a:latin typeface="JetBrains Mono"/>
              </a:rPr>
              <a:t>   </a:t>
            </a:r>
            <a:r>
              <a:rPr sz="1338" i="1">
                <a:solidFill>
                  <a:srgbClr val="7F8C98"/>
                </a:solidFill>
                <a:latin typeface="JetBrains Mono"/>
              </a:rPr>
              <a:t>// most recent</a:t>
            </a:r>
          </a:p>
          <a:p>
            <a:pPr algn="l">
              <a:lnSpc>
                <a:spcPts val="1605"/>
              </a:lnSpc>
            </a:pPr>
            <a:r>
              <a:rPr sz="1338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605"/>
              </a:lnSpc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95360" y="132588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 idea says: move the line to the front.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In code, every line that was newer than it ages by one.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Then the line gets the age 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NUM_WAY - 1</a:t>
            </a:r>
            <a:r>
              <a:rPr sz="20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Arial"/>
              </a:rPr>
              <a:t>• A fill (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hit = 0</a:t>
            </a:r>
            <a:r>
              <a:rPr sz="2000" b="0">
                <a:solidFill>
                  <a:srgbClr val="212121"/>
                </a:solidFill>
                <a:latin typeface="Arial"/>
              </a:rPr>
              <a:t>) is the insertion, and a hit (</a:t>
            </a:r>
            <a:r>
              <a:rPr sz="2000" b="0">
                <a:solidFill>
                  <a:srgbClr val="1E8E3E"/>
                </a:solidFill>
                <a:latin typeface="JetBrains Mono"/>
              </a:rPr>
              <a:t>hit = 1</a:t>
            </a:r>
            <a:r>
              <a:rPr sz="2000" b="0">
                <a:solidFill>
                  <a:srgbClr val="212121"/>
                </a:solidFill>
                <a:latin typeface="Arial"/>
              </a:rPr>
              <a:t>) is the promotion.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Debugging: follow one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210312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500" i="1">
                <a:solidFill>
                  <a:srgbClr val="7F8C98"/>
                </a:solidFill>
                <a:latin typeface="JetBrains Mono"/>
              </a:rPr>
              <a:t>// at the end of update_replacement_state (needs #include &lt;iostream&gt;)</a:t>
            </a:r>
          </a:p>
          <a:p>
            <a:pPr algn="l">
              <a:lnSpc>
                <a:spcPts val="1800"/>
              </a:lnSpc>
            </a:pPr>
            <a:r>
              <a:rPr sz="1500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warmup_complete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cpu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F78C6C"/>
                </a:solidFill>
                <a:latin typeface="JetBrains Mono"/>
              </a:rPr>
              <a:t>5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{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          </a:t>
            </a:r>
            <a:r>
              <a:rPr sz="1500" i="1">
                <a:solidFill>
                  <a:srgbClr val="7F8C98"/>
                </a:solidFill>
                <a:latin typeface="JetBrains Mono"/>
              </a:rPr>
              <a:t>// one set, after the warm-up</a:t>
            </a:r>
          </a:p>
          <a:p>
            <a:pPr algn="l">
              <a:lnSpc>
                <a:spcPts val="1800"/>
              </a:lnSpc>
            </a:pPr>
            <a:r>
              <a:rPr sz="1500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std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cout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NAME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"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 set 5 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"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hit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?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"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hit 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"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"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fill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"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"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 way 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"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way</a:t>
            </a:r>
          </a:p>
          <a:p>
            <a:pPr algn="l">
              <a:lnSpc>
                <a:spcPts val="1800"/>
              </a:lnSpc>
            </a:pPr>
            <a:r>
              <a:rPr sz="1500" i="0">
                <a:solidFill>
                  <a:srgbClr val="ECEFF1"/>
                </a:solidFill>
                <a:latin typeface="JetBrains Mono"/>
              </a:rPr>
              <a:t>           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"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 line 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"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std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hex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full_addr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F78C6C"/>
                </a:solidFill>
                <a:latin typeface="JetBrains Mono"/>
              </a:rPr>
              <a:t>6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std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dec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"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 ages: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"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800"/>
              </a:lnSpc>
            </a:pPr>
            <a:r>
              <a:rPr sz="1500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500" i="0">
                <a:solidFill>
                  <a:srgbClr val="C792EA"/>
                </a:solidFill>
                <a:latin typeface="JetBrains Mono"/>
              </a:rPr>
              <a:t>for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500" i="0">
                <a:solidFill>
                  <a:srgbClr val="FFCB6B"/>
                </a:solidFill>
                <a:latin typeface="JetBrains Mono"/>
              </a:rPr>
              <a:t>uint32_t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i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F78C6C"/>
                </a:solidFill>
                <a:latin typeface="JetBrains Mono"/>
              </a:rPr>
              <a:t>0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i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i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)</a:t>
            </a:r>
          </a:p>
          <a:p>
            <a:pPr algn="l">
              <a:lnSpc>
                <a:spcPts val="1800"/>
              </a:lnSpc>
            </a:pPr>
            <a:r>
              <a:rPr sz="1500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std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cout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"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 </a:t>
            </a:r>
            <a:r>
              <a:rPr sz="1500" i="0">
                <a:solidFill>
                  <a:srgbClr val="C3E88D"/>
                </a:solidFill>
                <a:latin typeface="JetBrains Mono"/>
              </a:rPr>
              <a:t>"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lruBits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500" i="0">
                <a:solidFill>
                  <a:srgbClr val="C792EA"/>
                </a:solidFill>
                <a:latin typeface="JetBrains Mono"/>
              </a:rPr>
              <a:t>this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*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i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800"/>
              </a:lnSpc>
            </a:pPr>
            <a:r>
              <a:rPr sz="1500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std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cout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std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500" i="0">
                <a:solidFill>
                  <a:srgbClr val="89DDFF"/>
                </a:solidFill>
                <a:latin typeface="JetBrains Mono"/>
              </a:rPr>
              <a:t>: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endl</a:t>
            </a:r>
            <a:r>
              <a:rPr sz="1500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800"/>
              </a:lnSpc>
            </a:pPr>
            <a:r>
              <a:rPr sz="1500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8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Print from inside the policy to watch it work. Print one set only, or the output floods.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Run the binary yourself and filter: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Champsim/bin/mylru --warmup_instructions 1000000 --simulation_instructions 3000000 /opt/CS231_Traces/soplex_66B.trace.xz | grep 'set 5' | head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To track one packet instead, test its line: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(full_addr &gt;&gt; 6) == 0x49d2405</a:t>
            </a:r>
            <a:r>
              <a:rPr sz="2200" b="0">
                <a:solidFill>
                  <a:srgbClr val="21212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Debugging: what you see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124968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1463039"/>
            <a:ext cx="11100816" cy="24384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63039"/>
            <a:ext cx="54864" cy="24384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706879"/>
            <a:ext cx="11100816" cy="243840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706879"/>
            <a:ext cx="54864" cy="24384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10972800" cy="106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cpu0_L2C set 5 fill way 6 line 3276c05 ages: 5 2 6 4 1 3 7 0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cpu0_L2C set 5 fill way 7 line 49d2405 ages: 4 1 5 3 0 2 6 7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cpu0_L2C set 5 hit  way 3 line 20d7c05 ages: 3 1 4 7 0 2 5 6</a:t>
            </a:r>
          </a:p>
          <a:p>
            <a:pPr algn="l">
              <a:lnSpc>
                <a:spcPts val="1920"/>
              </a:lnSpc>
            </a:pPr>
            <a:r>
              <a:rPr sz="1600" i="0">
                <a:solidFill>
                  <a:srgbClr val="ECEFF1"/>
                </a:solidFill>
                <a:latin typeface="JetBrains Mono"/>
              </a:rPr>
              <a:t>cpu0_L2C set 5 hit  way 0 line 748405 ages: 7 1 3 6 0 2 4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04160"/>
            <a:ext cx="11247120" cy="323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The L2C has </a:t>
            </a:r>
            <a:r>
              <a:rPr sz="2200" b="1">
                <a:solidFill>
                  <a:srgbClr val="212121"/>
                </a:solidFill>
                <a:latin typeface="Arial"/>
              </a:rPr>
              <a:t>8</a:t>
            </a:r>
            <a:r>
              <a:rPr sz="2200" b="0">
                <a:solidFill>
                  <a:srgbClr val="212121"/>
                </a:solidFill>
                <a:latin typeface="Arial"/>
              </a:rPr>
              <a:t> ways, so ages go from </a:t>
            </a:r>
            <a:r>
              <a:rPr sz="2200" b="1">
                <a:solidFill>
                  <a:srgbClr val="212121"/>
                </a:solidFill>
                <a:latin typeface="Arial"/>
              </a:rPr>
              <a:t>0</a:t>
            </a:r>
            <a:r>
              <a:rPr sz="2200" b="0">
                <a:solidFill>
                  <a:srgbClr val="212121"/>
                </a:solidFill>
                <a:latin typeface="Arial"/>
              </a:rPr>
              <a:t> to </a:t>
            </a:r>
            <a:r>
              <a:rPr sz="2200" b="1">
                <a:solidFill>
                  <a:srgbClr val="212121"/>
                </a:solidFill>
                <a:latin typeface="Arial"/>
              </a:rPr>
              <a:t>7</a:t>
            </a:r>
            <a:r>
              <a:rPr sz="22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Each hit or fill moves its way to age </a:t>
            </a:r>
            <a:r>
              <a:rPr sz="2200" b="1">
                <a:solidFill>
                  <a:srgbClr val="212121"/>
                </a:solidFill>
                <a:latin typeface="Arial"/>
              </a:rPr>
              <a:t>7</a:t>
            </a:r>
            <a:r>
              <a:rPr sz="2200" b="0">
                <a:solidFill>
                  <a:srgbClr val="212121"/>
                </a:solidFill>
                <a:latin typeface="Arial"/>
              </a:rPr>
              <a:t>, and the lines that were newer age by one.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After the first fill, way 7 has age </a:t>
            </a:r>
            <a:r>
              <a:rPr sz="2200" b="1">
                <a:solidFill>
                  <a:srgbClr val="212121"/>
                </a:solidFill>
                <a:latin typeface="Arial"/>
              </a:rPr>
              <a:t>0</a:t>
            </a:r>
            <a:r>
              <a:rPr sz="2200" b="0">
                <a:solidFill>
                  <a:srgbClr val="212121"/>
                </a:solidFill>
                <a:latin typeface="Arial"/>
              </a:rPr>
              <a:t>: the next fill goes exactly there.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Remove the print before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make check</a:t>
            </a:r>
            <a:r>
              <a:rPr sz="2200" b="0">
                <a:solidFill>
                  <a:srgbClr val="212121"/>
                </a:solidFill>
                <a:latin typeface="Arial"/>
              </a:rPr>
              <a:t>: printing slows the run a lot.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657" y="502919"/>
            <a:ext cx="44863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How we check your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make check</a:t>
            </a:r>
            <a:r>
              <a:rPr sz="2400" b="0">
                <a:solidFill>
                  <a:srgbClr val="212121"/>
                </a:solidFill>
                <a:latin typeface="Arial"/>
              </a:rPr>
              <a:t> builds your policy at the L2C and runs </a:t>
            </a:r>
            <a:r>
              <a:rPr sz="2400" b="1">
                <a:solidFill>
                  <a:srgbClr val="212121"/>
                </a:solidFill>
                <a:latin typeface="Arial"/>
              </a:rPr>
              <a:t>1M + 5M</a:t>
            </a:r>
            <a:r>
              <a:rPr sz="2400" b="0">
                <a:solidFill>
                  <a:srgbClr val="212121"/>
                </a:solidFill>
                <a:latin typeface="Arial"/>
              </a:rPr>
              <a:t> instructions on the traces where a wrong policy gives different numbers.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It compares your </a:t>
            </a:r>
            <a:r>
              <a:rPr sz="2400" b="1">
                <a:solidFill>
                  <a:srgbClr val="212121"/>
                </a:solidFill>
                <a:latin typeface="Arial"/>
              </a:rPr>
              <a:t>IPC</a:t>
            </a:r>
            <a:r>
              <a:rPr sz="2400" b="0">
                <a:solidFill>
                  <a:srgbClr val="212121"/>
                </a:solidFill>
                <a:latin typeface="Arial"/>
              </a:rPr>
              <a:t> and your </a:t>
            </a:r>
            <a:r>
              <a:rPr sz="2400" b="1">
                <a:solidFill>
                  <a:srgbClr val="212121"/>
                </a:solidFill>
                <a:latin typeface="Arial"/>
              </a:rPr>
              <a:t>L2C MPKI</a:t>
            </a:r>
            <a:r>
              <a:rPr sz="2400" b="0">
                <a:solidFill>
                  <a:srgbClr val="212121"/>
                </a:solidFill>
                <a:latin typeface="Arial"/>
              </a:rPr>
              <a:t> with our solution's. Both must match </a:t>
            </a:r>
            <a:r>
              <a:rPr sz="2400" b="1">
                <a:solidFill>
                  <a:srgbClr val="212121"/>
                </a:solidFill>
                <a:latin typeface="Arial"/>
              </a:rPr>
              <a:t>exactly</a:t>
            </a:r>
            <a:r>
              <a:rPr sz="24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L2C MPKI = L2C misses per 1000 simulated instructions. The makefile computes it for you.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If either is further off, it prints both your values and 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16806"/>
            <a:ext cx="11247120" cy="11209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Think like an autograder checking your L2C policy against ours: which of IPC, L2C MPKI and L1D AMAT would you compare, in what combination, and why?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537708"/>
            <a:ext cx="11247120" cy="771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Suppose the autograder only checks "IPC within 5% of ours". At which level (L1D, L2C or LLC) would that still catch a wrong policy, and why?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How good is a policy?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Checking that a policy is correct is one question. Judging whether it is good is another.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Say two correct policies give different numbers at the L2C.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66056"/>
            <a:ext cx="11247120" cy="771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Which numbers do you look at to decide which policy is better, and in what order: MPKI, miss rate, or AMAT / average miss latency?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537708"/>
            <a:ext cx="11247120" cy="771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(*) How will the LLC statistics look when you change only the L2C policy?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p-lan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750" y="777240"/>
            <a:ext cx="3564193" cy="5303519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A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212121"/>
                </a:solidFill>
                <a:latin typeface="Arial"/>
              </a:rPr>
              <a:t>It's inlab (3) time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Task 3: replacement by instruction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Each line was brought in by one instruction, identified by its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ip</a:t>
            </a:r>
            <a:r>
              <a:rPr sz="24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Some instructions bring in lines that the program reuses. Others do not.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We keep a counter per instruction: +1 on a hit, −1 on a miss.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We evict the line whose instruction has the lowest counter.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98850"/>
            <a:ext cx="11247120" cy="4224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How will you store this data?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21252"/>
            <a:ext cx="11247120" cy="4224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Where will you update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3654"/>
            <a:ext cx="11247120" cy="4224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Where will you use it to choose a victim?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66056"/>
            <a:ext cx="11247120" cy="771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8E3E"/>
                </a:solidFill>
                <a:latin typeface="Arial"/>
              </a:rPr>
              <a:t>H: A line remembers the instruction that brought it in: </a:t>
            </a:r>
            <a:r>
              <a:rPr sz="2200" b="1">
                <a:solidFill>
                  <a:srgbClr val="1E8E3E"/>
                </a:solidFill>
                <a:latin typeface="JetBrains Mono"/>
              </a:rPr>
              <a:t>current_set[i].ip</a:t>
            </a:r>
            <a:r>
              <a:rPr sz="2200" b="1">
                <a:solidFill>
                  <a:srgbClr val="1E8E3E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37708"/>
            <a:ext cx="11247120" cy="771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8E3E"/>
                </a:solidFill>
                <a:latin typeface="Arial"/>
              </a:rPr>
              <a:t>H: Hits and fills both arrive in </a:t>
            </a:r>
            <a:r>
              <a:rPr sz="2200" b="1">
                <a:solidFill>
                  <a:srgbClr val="1E8E3E"/>
                </a:solidFill>
                <a:latin typeface="JetBrains Mono"/>
              </a:rPr>
              <a:t>update_replacement_state</a:t>
            </a:r>
            <a:r>
              <a:rPr sz="2200" b="1">
                <a:solidFill>
                  <a:srgbClr val="1E8E3E"/>
                </a:solidFill>
                <a:latin typeface="Arial"/>
              </a:rPr>
              <a:t>; the </a:t>
            </a:r>
            <a:r>
              <a:rPr sz="2200" b="1">
                <a:solidFill>
                  <a:srgbClr val="1E8E3E"/>
                </a:solidFill>
                <a:latin typeface="JetBrains Mono"/>
              </a:rPr>
              <a:t>hit</a:t>
            </a:r>
            <a:r>
              <a:rPr sz="2200" b="1">
                <a:solidFill>
                  <a:srgbClr val="1E8E3E"/>
                </a:solidFill>
                <a:latin typeface="Arial"/>
              </a:rPr>
              <a:t> argument tells them apart.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ChampSim replays a trace on a configured core and caches, and reports IPC and cache statistics.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A miss travels down through the RQ and MSHR of each level; the data comes back up and fills each level.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Stores read the line first (RFO), mark it dirty, and write it back when it is evicted.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Miss rate, MPKI and miss latency measure a cache from different angles.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A replacement policy decides insertion, promotion and eviction. LRU evicts the least recently used line.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In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cache.cc</a:t>
            </a:r>
            <a:r>
              <a:rPr sz="2200" b="0">
                <a:solidFill>
                  <a:srgbClr val="212121"/>
                </a:solidFill>
                <a:latin typeface="Arial"/>
              </a:rPr>
              <a:t>,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handle_read</a:t>
            </a:r>
            <a:r>
              <a:rPr sz="2200" b="0">
                <a:solidFill>
                  <a:srgbClr val="212121"/>
                </a:solidFill>
                <a:latin typeface="Arial"/>
              </a:rPr>
              <a:t>,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readlike_hit</a:t>
            </a:r>
            <a:r>
              <a:rPr sz="2200" b="0">
                <a:solidFill>
                  <a:srgbClr val="212121"/>
                </a:solidFill>
                <a:latin typeface="Arial"/>
              </a:rPr>
              <a:t>,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readlike_miss</a:t>
            </a:r>
            <a:r>
              <a:rPr sz="2200" b="0">
                <a:solidFill>
                  <a:srgbClr val="212121"/>
                </a:solidFill>
                <a:latin typeface="Arial"/>
              </a:rPr>
              <a:t> and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handle_fill</a:t>
            </a:r>
            <a:r>
              <a:rPr sz="2200" b="0">
                <a:solidFill>
                  <a:srgbClr val="212121"/>
                </a:solidFill>
                <a:latin typeface="Arial"/>
              </a:rPr>
              <a:t> implement the read path.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A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212121"/>
                </a:solidFill>
                <a:latin typeface="Arial"/>
              </a:rPr>
              <a:t>Lab exam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AB40"/>
                </a:solidFill>
                <a:latin typeface="Arial"/>
              </a:rPr>
              <a:t>Part 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Extra: bypassing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49039"/>
            <a:ext cx="1463040" cy="7315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What it is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When it helps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In ChampSim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Bypassing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Some lines are used once and never again, for example an array that the program reads from start to end.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Storing such a line evicts a line that might have been reused.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So a policy may </a:t>
            </a:r>
            <a:r>
              <a:rPr sz="2400" b="1">
                <a:solidFill>
                  <a:srgbClr val="212121"/>
                </a:solidFill>
                <a:latin typeface="Arial"/>
              </a:rPr>
              <a:t>bypass</a:t>
            </a:r>
            <a:r>
              <a:rPr sz="2400" b="0">
                <a:solidFill>
                  <a:srgbClr val="212121"/>
                </a:solidFill>
                <a:latin typeface="Arial"/>
              </a:rPr>
              <a:t> the cache: the data goes up to the level above, but this cache keeps no copy.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In ChampSim,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find_victim</a:t>
            </a:r>
            <a:r>
              <a:rPr sz="2400" b="0">
                <a:solidFill>
                  <a:srgbClr val="212121"/>
                </a:solidFill>
                <a:latin typeface="Arial"/>
              </a:rPr>
              <a:t> bypasses by returning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NUM_WAY</a:t>
            </a:r>
            <a:r>
              <a:rPr sz="2400" b="0">
                <a:solidFill>
                  <a:srgbClr val="212121"/>
                </a:solidFill>
                <a:latin typeface="Arial"/>
              </a:rPr>
              <a:t> instead of a way.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212121"/>
                </a:solidFill>
                <a:latin typeface="Arial"/>
              </a:rPr>
              <a:t>• ChampSim allows this only at the LLC, and never for a </a:t>
            </a:r>
            <a:r>
              <a:rPr sz="2400" b="0">
                <a:solidFill>
                  <a:srgbClr val="1E8E3E"/>
                </a:solidFill>
                <a:latin typeface="JetBrains Mono"/>
              </a:rPr>
              <a:t>WRITEBACK</a:t>
            </a:r>
            <a:r>
              <a:rPr sz="2400" b="0">
                <a:solidFill>
                  <a:srgbClr val="212121"/>
                </a:solidFill>
                <a:latin typeface="Arial"/>
              </a:rPr>
              <a:t>, which must be stored somewhere.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537708"/>
            <a:ext cx="11247120" cy="771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B1FA2"/>
                </a:solidFill>
                <a:latin typeface="Arial"/>
              </a:rPr>
              <a:t>Q: Which of our traces would benefit from bypassing, and how could a policy detect such lines?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AB40"/>
                </a:solidFill>
                <a:latin typeface="Arial"/>
              </a:rPr>
              <a:t>Part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Reference: the write path (view later)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49039"/>
            <a:ext cx="1463040" cy="73152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operate_writes()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handle_writeback()</a:t>
            </a:r>
          </a:p>
          <a:p>
            <a:pPr algn="l"/>
            <a:r>
              <a:rPr sz="2200" b="0">
                <a:solidFill>
                  <a:srgbClr val="DCE8FD"/>
                </a:solidFill>
                <a:latin typeface="Arial"/>
              </a:rPr>
              <a:t>• Why a filled line is dirty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The write path (REFERENCE, view later)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348" y="1325880"/>
            <a:ext cx="877099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handle_writeback (REFERENCE, view later)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4572000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" y="3100251"/>
            <a:ext cx="11100816" cy="204651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3100251"/>
            <a:ext cx="54864" cy="204651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3304902"/>
            <a:ext cx="11100816" cy="204651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3304902"/>
            <a:ext cx="54864" cy="204651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3509554"/>
            <a:ext cx="11100816" cy="204651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" y="3509554"/>
            <a:ext cx="54864" cy="204651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3714205"/>
            <a:ext cx="11100816" cy="204651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3714205"/>
            <a:ext cx="54864" cy="204651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3918857"/>
            <a:ext cx="11100816" cy="204651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" y="3918857"/>
            <a:ext cx="54864" cy="204651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" y="4123508"/>
            <a:ext cx="11100816" cy="204651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4123508"/>
            <a:ext cx="54864" cy="204651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" y="4328160"/>
            <a:ext cx="11100816" cy="204651"/>
          </a:xfrm>
          <a:prstGeom prst="rect">
            <a:avLst/>
          </a:prstGeom>
          <a:solidFill>
            <a:srgbClr val="4E5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" y="4328160"/>
            <a:ext cx="54864" cy="204651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14173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11"/>
              </a:lnSpc>
            </a:pPr>
            <a:r>
              <a:rPr sz="1342" i="0">
                <a:solidFill>
                  <a:srgbClr val="FFCB6B"/>
                </a:solidFill>
                <a:latin typeface="JetBrains Mono"/>
              </a:rPr>
              <a:t>void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82AAFF"/>
                </a:solidFill>
                <a:latin typeface="JetBrains Mono"/>
              </a:rPr>
              <a:t>CACHE::handle_writeback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342" i="0">
                <a:solidFill>
                  <a:srgbClr val="C792EA"/>
                </a:solidFill>
                <a:latin typeface="JetBrains Mono"/>
              </a:rPr>
              <a:t>while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writes_available_this_cycle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&gt;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F78C6C"/>
                </a:solidFill>
                <a:latin typeface="JetBrains Mono"/>
              </a:rPr>
              <a:t>0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42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!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WQ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has_ready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PACKET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WQ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front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            </a:t>
            </a:r>
            <a:r>
              <a:rPr sz="1342" i="1">
                <a:solidFill>
                  <a:srgbClr val="7F8C98"/>
                </a:solidFill>
                <a:latin typeface="JetBrains Mono"/>
              </a:rPr>
              <a:t>// oldest store or writeback</a:t>
            </a:r>
          </a:p>
          <a:p>
            <a:pPr algn="l">
              <a:lnSpc>
                <a:spcPts val="1611"/>
              </a:lnSpc>
            </a:pP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42" i="0">
                <a:solidFill>
                  <a:srgbClr val="FFCB6B"/>
                </a:solidFill>
                <a:latin typeface="JetBrains Mono"/>
              </a:rPr>
              <a:t>uint32_t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get_set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address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42" i="0">
                <a:solidFill>
                  <a:srgbClr val="FFCB6B"/>
                </a:solidFill>
                <a:latin typeface="JetBrains Mono"/>
              </a:rPr>
              <a:t>uint32_t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get_way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address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11"/>
              </a:lnSpc>
            </a:pP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42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&lt;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{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                        </a:t>
            </a:r>
            <a:r>
              <a:rPr sz="1342" i="1">
                <a:solidFill>
                  <a:srgbClr val="7F8C98"/>
                </a:solidFill>
                <a:latin typeface="JetBrains Mono"/>
              </a:rPr>
              <a:t>// HIT</a:t>
            </a: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   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impl_replacement_update_state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1">
                <a:solidFill>
                  <a:srgbClr val="7F8C98"/>
                </a:solidFill>
                <a:latin typeface="JetBrains Mono"/>
              </a:rPr>
              <a:t>/*hit*/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F78C6C"/>
                </a:solidFill>
                <a:latin typeface="JetBrains Mono"/>
              </a:rPr>
              <a:t>1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   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block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[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*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NUM_WAY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+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]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dirty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F78C6C"/>
                </a:solidFill>
                <a:latin typeface="JetBrains Mono"/>
              </a:rPr>
              <a:t>1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     </a:t>
            </a:r>
            <a:r>
              <a:rPr sz="1342" i="1">
                <a:solidFill>
                  <a:srgbClr val="7F8C98"/>
                </a:solidFill>
                <a:latin typeface="JetBrains Mono"/>
              </a:rPr>
              <a:t>// the line now holds new data</a:t>
            </a: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}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C792EA"/>
                </a:solidFill>
                <a:latin typeface="JetBrains Mono"/>
              </a:rPr>
              <a:t>else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type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RFO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&amp;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to_return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empty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    </a:t>
            </a:r>
            <a:r>
              <a:rPr sz="1342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!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readlike_miss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42" i="1">
                <a:solidFill>
                  <a:srgbClr val="7F8C98"/>
                </a:solidFill>
                <a:latin typeface="JetBrains Mono"/>
              </a:rPr>
              <a:t>// store miss: read the line first</a:t>
            </a: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}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C792EA"/>
                </a:solidFill>
                <a:latin typeface="JetBrains Mono"/>
              </a:rPr>
              <a:t>else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{</a:t>
            </a: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   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=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first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invalid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C792EA"/>
                </a:solidFill>
                <a:latin typeface="JetBrains Mono"/>
              </a:rPr>
              <a:t>else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find_victim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    </a:t>
            </a:r>
            <a:r>
              <a:rPr sz="1342" i="0">
                <a:solidFill>
                  <a:srgbClr val="C792EA"/>
                </a:solidFill>
                <a:latin typeface="JetBrains Mono"/>
              </a:rPr>
              <a:t>if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!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filllike_miss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set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way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,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handle_pkt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</a:t>
            </a:r>
            <a:r>
              <a:rPr sz="1342" i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;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   </a:t>
            </a:r>
            <a:r>
              <a:rPr sz="1342" i="1">
                <a:solidFill>
                  <a:srgbClr val="7F8C98"/>
                </a:solidFill>
                <a:latin typeface="JetBrains Mono"/>
              </a:rPr>
              <a:t>// writeback miss: store it</a:t>
            </a: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WQ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.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pop_front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(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)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 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writes_available_this_cycle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342" i="0">
                <a:solidFill>
                  <a:srgbClr val="89DDFF"/>
                </a:solidFill>
                <a:latin typeface="JetBrains Mono"/>
              </a:rPr>
              <a:t>-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;</a:t>
            </a: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  </a:t>
            </a:r>
            <a:r>
              <a:rPr sz="1342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611"/>
              </a:lnSpc>
            </a:pPr>
            <a:r>
              <a:rPr sz="1342" i="0">
                <a:solidFill>
                  <a:srgbClr val="ECEFF1"/>
                </a:solidFill>
                <a:latin typeface="JetBrains Mono"/>
              </a:rPr>
              <a:t>}</a:t>
            </a:r>
          </a:p>
          <a:p>
            <a:pPr algn="l">
              <a:lnSpc>
                <a:spcPts val="1611"/>
              </a:lnSpc>
            </a:p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handle_writeback, step by step (REFERENCE, view later)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1">
                <a:solidFill>
                  <a:srgbClr val="212121"/>
                </a:solidFill>
                <a:latin typeface="Arial"/>
              </a:rPr>
              <a:t>Hit</a:t>
            </a:r>
            <a:r>
              <a:rPr sz="2200" b="0">
                <a:solidFill>
                  <a:srgbClr val="212121"/>
                </a:solidFill>
                <a:latin typeface="Arial"/>
              </a:rPr>
              <a:t>: we tell the policy about the hit and mark the line dirty.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1">
                <a:solidFill>
                  <a:srgbClr val="212121"/>
                </a:solidFill>
                <a:latin typeface="Arial"/>
              </a:rPr>
              <a:t>Store miss</a:t>
            </a:r>
            <a:r>
              <a:rPr sz="2200" b="0">
                <a:solidFill>
                  <a:srgbClr val="212121"/>
                </a:solidFill>
                <a:latin typeface="Arial"/>
              </a:rPr>
              <a:t> (an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RFO</a:t>
            </a:r>
            <a:r>
              <a:rPr sz="2200" b="0">
                <a:solidFill>
                  <a:srgbClr val="212121"/>
                </a:solidFill>
                <a:latin typeface="Arial"/>
              </a:rPr>
              <a:t> whose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to_return</a:t>
            </a:r>
            <a:r>
              <a:rPr sz="2200" b="0">
                <a:solidFill>
                  <a:srgbClr val="212121"/>
                </a:solidFill>
                <a:latin typeface="Arial"/>
              </a:rPr>
              <a:t> is empty): the store came from the core at this level, so we read the line first through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readlike_miss</a:t>
            </a:r>
            <a:r>
              <a:rPr sz="22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1">
                <a:solidFill>
                  <a:srgbClr val="212121"/>
                </a:solidFill>
                <a:latin typeface="Arial"/>
              </a:rPr>
              <a:t>Writeback miss</a:t>
            </a:r>
            <a:r>
              <a:rPr sz="2200" b="0">
                <a:solidFill>
                  <a:srgbClr val="212121"/>
                </a:solidFill>
                <a:latin typeface="Arial"/>
              </a:rPr>
              <a:t>: the level above sent a dirty line we do not have. We pick a way and store it with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filllike_miss</a:t>
            </a:r>
            <a:r>
              <a:rPr sz="2200" b="0">
                <a:solidFill>
                  <a:srgbClr val="212121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Like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handle_read</a:t>
            </a:r>
            <a:r>
              <a:rPr sz="2200" b="0">
                <a:solidFill>
                  <a:srgbClr val="212121"/>
                </a:solidFill>
                <a:latin typeface="Arial"/>
              </a:rPr>
              <a:t>, it stops when the per-cycle limit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max_write</a:t>
            </a:r>
            <a:r>
              <a:rPr sz="2200" b="0">
                <a:solidFill>
                  <a:srgbClr val="212121"/>
                </a:solidFill>
                <a:latin typeface="Arial"/>
              </a:rPr>
              <a:t> is used up.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12121"/>
                </a:solidFill>
                <a:latin typeface="Arial"/>
              </a:rPr>
              <a:t>Why a filled line is dirty (REFERENCE, view later)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fill_block.dirty = (type == WRITEBACK || (type == RFO &amp;&amp; to_return.empty()));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A </a:t>
            </a:r>
            <a:r>
              <a:rPr sz="2200" b="1">
                <a:solidFill>
                  <a:srgbClr val="212121"/>
                </a:solidFill>
                <a:latin typeface="Arial"/>
              </a:rPr>
              <a:t>WRITEBACK</a:t>
            </a:r>
            <a:r>
              <a:rPr sz="2200" b="0">
                <a:solidFill>
                  <a:srgbClr val="212121"/>
                </a:solidFill>
                <a:latin typeface="Arial"/>
              </a:rPr>
              <a:t> fill stores data that is newer than the level below, so the line is dirty.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An </a:t>
            </a:r>
            <a:r>
              <a:rPr sz="2200" b="1">
                <a:solidFill>
                  <a:srgbClr val="212121"/>
                </a:solidFill>
                <a:latin typeface="Arial"/>
              </a:rPr>
              <a:t>RFO</a:t>
            </a:r>
            <a:r>
              <a:rPr sz="2200" b="0">
                <a:solidFill>
                  <a:srgbClr val="212121"/>
                </a:solidFill>
                <a:latin typeface="Arial"/>
              </a:rPr>
              <a:t> with an empty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to_return</a:t>
            </a:r>
            <a:r>
              <a:rPr sz="2200" b="0">
                <a:solidFill>
                  <a:srgbClr val="212121"/>
                </a:solidFill>
                <a:latin typeface="Arial"/>
              </a:rPr>
              <a:t> started at this level from a store. The store writes into the line, so it is dirty.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12121"/>
                </a:solidFill>
                <a:latin typeface="Arial"/>
              </a:rPr>
              <a:t>• An RFO from the level above has a non-empty </a:t>
            </a:r>
            <a:r>
              <a:rPr sz="2200" b="0">
                <a:solidFill>
                  <a:srgbClr val="1E8E3E"/>
                </a:solidFill>
                <a:latin typeface="JetBrains Mono"/>
              </a:rPr>
              <a:t>to_return</a:t>
            </a:r>
            <a:r>
              <a:rPr sz="2200" b="0">
                <a:solidFill>
                  <a:srgbClr val="212121"/>
                </a:solidFill>
                <a:latin typeface="Arial"/>
              </a:rPr>
              <a:t>. The store happens up there, so this copy stays clean.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